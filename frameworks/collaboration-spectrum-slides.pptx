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64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 ship · framework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E0A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 SHIP ·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how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work together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everything needs collaboration.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4564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modes for designing relationships, openness, control, reciprocity, governance and exit.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4736592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isn't better. Choose what the work actually needs.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79208" y="914400"/>
            <a:ext cx="1700784" cy="1078992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960120"/>
            <a:ext cx="1554480" cy="987552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2088" y="1051560"/>
            <a:ext cx="1335024" cy="804672"/>
          </a:xfrm>
          <a:prstGeom prst="ellipse">
            <a:avLst/>
          </a:prstGeom>
          <a:solidFill>
            <a:srgbClr val="2D8B7A">
              <a:alpha val="92000"/>
            </a:srgbClr>
          </a:solidFill>
          <a:ln w="10160">
            <a:solidFill>
              <a:srgbClr val="2D8B7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129588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1645920"/>
            <a:ext cx="1700784" cy="1078992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4040" y="1691640"/>
            <a:ext cx="1554480" cy="987552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73768" y="1783080"/>
            <a:ext cx="1335024" cy="804672"/>
          </a:xfrm>
          <a:prstGeom prst="ellipse">
            <a:avLst/>
          </a:prstGeom>
          <a:solidFill>
            <a:srgbClr val="C75B3A">
              <a:alpha val="92000"/>
            </a:srgbClr>
          </a:solidFill>
          <a:ln w="10160">
            <a:solidFill>
              <a:srgbClr val="C75B3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3768" y="20274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93608" y="2743200"/>
            <a:ext cx="1792224" cy="1143000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788920"/>
            <a:ext cx="1645920" cy="1051560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880360"/>
            <a:ext cx="1426464" cy="868680"/>
          </a:xfrm>
          <a:prstGeom prst="ellipse">
            <a:avLst/>
          </a:prstGeom>
          <a:solidFill>
            <a:srgbClr val="D4993D">
              <a:alpha val="92000"/>
            </a:srgbClr>
          </a:solidFill>
          <a:ln w="10160">
            <a:solidFill>
              <a:srgbClr val="D4993D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314645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0568" y="4114800"/>
            <a:ext cx="1746504" cy="1097280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160520"/>
            <a:ext cx="1600200" cy="1005840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13448" y="4251960"/>
            <a:ext cx="1380744" cy="822960"/>
          </a:xfrm>
          <a:prstGeom prst="ellipse">
            <a:avLst/>
          </a:prstGeom>
          <a:solidFill>
            <a:srgbClr val="8BA4B8">
              <a:alpha val="92000"/>
            </a:srgbClr>
          </a:solidFill>
          <a:ln w="10160">
            <a:solidFill>
              <a:srgbClr val="8BA4B8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4502506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45168" y="4251960"/>
            <a:ext cx="1792224" cy="1115568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4297680"/>
            <a:ext cx="1645920" cy="1024128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28048" y="4389120"/>
            <a:ext cx="1426464" cy="841248"/>
          </a:xfrm>
          <a:prstGeom prst="ellipse">
            <a:avLst/>
          </a:prstGeom>
          <a:solidFill>
            <a:srgbClr val="6F8F78">
              <a:alpha val="92000"/>
            </a:srgbClr>
          </a:solidFill>
          <a:ln w="10160">
            <a:solidFill>
              <a:srgbClr val="6F8F78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28048" y="464588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0" y="1856232"/>
            <a:ext cx="274320" cy="996696"/>
          </a:xfrm>
          <a:prstGeom prst="line">
            <a:avLst/>
          </a:prstGeom>
          <a:noFill/>
          <a:ln w="17780">
            <a:solidFill>
              <a:srgbClr val="E0AD56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75520" y="3776472"/>
            <a:ext cx="182880" cy="521208"/>
          </a:xfrm>
          <a:prstGeom prst="line">
            <a:avLst/>
          </a:prstGeom>
          <a:noFill/>
          <a:ln w="17780">
            <a:solidFill>
              <a:srgbClr val="3AA08D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81812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modes, not stages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ARCHIPELAGO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modes. Not stages.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use several at once, and move between them.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" y="2194560"/>
            <a:ext cx="2020824" cy="1325880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1874520" cy="1234440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331720"/>
            <a:ext cx="1655064" cy="1051560"/>
          </a:xfrm>
          <a:prstGeom prst="ellipse">
            <a:avLst/>
          </a:prstGeom>
          <a:solidFill>
            <a:srgbClr val="2D8B7A">
              <a:alpha val="92000"/>
            </a:srgbClr>
          </a:solidFill>
          <a:ln w="10160">
            <a:solidFill>
              <a:srgbClr val="2D8B7A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65999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931566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Know, learn, refer, exchange.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97696" y="1920240"/>
            <a:ext cx="2139696" cy="1417320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70848" y="1965960"/>
            <a:ext cx="1993392" cy="1325880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0576" y="2057400"/>
            <a:ext cx="1773936" cy="1143000"/>
          </a:xfrm>
          <a:prstGeom prst="ellipse">
            <a:avLst/>
          </a:prstGeom>
          <a:solidFill>
            <a:srgbClr val="C75B3A">
              <a:alpha val="92000"/>
            </a:srgbClr>
          </a:solidFill>
          <a:ln w="10160">
            <a:solidFill>
              <a:srgbClr val="C75B3A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80576" y="2416759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35440" y="2708453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to and steward something others can use.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2569464"/>
            <a:ext cx="2295144" cy="1463040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2615184"/>
            <a:ext cx="2148840" cy="1371600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706624"/>
            <a:ext cx="1929384" cy="1188720"/>
          </a:xfrm>
          <a:prstGeom prst="ellipse">
            <a:avLst/>
          </a:prstGeom>
          <a:solidFill>
            <a:srgbClr val="D4993D">
              <a:alpha val="92000"/>
            </a:srgbClr>
          </a:solidFill>
          <a:ln w="10160">
            <a:solidFill>
              <a:srgbClr val="D4993D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081528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75504" y="338328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and own important things together.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01952" y="4270248"/>
            <a:ext cx="2176272" cy="1389888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75104" y="4315968"/>
            <a:ext cx="2029968" cy="1298448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4832" y="4407408"/>
            <a:ext cx="1810512" cy="1115568"/>
          </a:xfrm>
          <a:prstGeom prst="ellipse">
            <a:avLst/>
          </a:prstGeom>
          <a:solidFill>
            <a:srgbClr val="8BA4B8">
              <a:alpha val="92000"/>
            </a:srgbClr>
          </a:solidFill>
          <a:ln w="10160">
            <a:solidFill>
              <a:srgbClr val="8BA4B8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475744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39696" y="5043099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what you do around one another.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24928" y="4251960"/>
            <a:ext cx="2176272" cy="1389888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4297680"/>
            <a:ext cx="2029968" cy="1298448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07808" y="4389120"/>
            <a:ext cx="1810512" cy="1115568"/>
          </a:xfrm>
          <a:prstGeom prst="ellipse">
            <a:avLst/>
          </a:prstGeom>
          <a:solidFill>
            <a:srgbClr val="6F8F78">
              <a:alpha val="92000"/>
            </a:srgbClr>
          </a:solidFill>
          <a:ln w="10160">
            <a:solidFill>
              <a:srgbClr val="6F8F78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473915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62672" y="5024811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distinct things towards something shared.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3246120"/>
            <a:ext cx="2569464" cy="0"/>
          </a:xfrm>
          <a:prstGeom prst="line">
            <a:avLst/>
          </a:prstGeom>
          <a:noFill/>
          <a:ln w="17780">
            <a:solidFill>
              <a:srgbClr val="E0AD56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59168" y="3182112"/>
            <a:ext cx="2039112" cy="-484632"/>
          </a:xfrm>
          <a:prstGeom prst="line">
            <a:avLst/>
          </a:prstGeom>
          <a:noFill/>
          <a:ln w="17780">
            <a:solidFill>
              <a:srgbClr val="3AA08D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931920" y="4617720"/>
            <a:ext cx="1463040" cy="-777240"/>
          </a:xfrm>
          <a:prstGeom prst="line">
            <a:avLst/>
          </a:prstGeom>
          <a:noFill/>
          <a:ln w="17780">
            <a:solidFill>
              <a:srgbClr val="8BA4B8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39712" y="3749040"/>
            <a:ext cx="932688" cy="548640"/>
          </a:xfrm>
          <a:prstGeom prst="line">
            <a:avLst/>
          </a:prstGeom>
          <a:noFill/>
          <a:ln w="17780">
            <a:solidFill>
              <a:srgbClr val="C75B3A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754880" y="5623560"/>
            <a:ext cx="2697480" cy="320040"/>
          </a:xfrm>
          <a:prstGeom prst="roundRect">
            <a:avLst/>
          </a:prstGeom>
          <a:solidFill>
            <a:srgbClr val="F5F0E8"/>
          </a:solidFill>
          <a:ln w="15240">
            <a:solidFill>
              <a:srgbClr val="C75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5696712"/>
            <a:ext cx="2587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MATURITY 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6446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≠ better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the lightest mode the work needs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modes differ in interdependence, what must be shared, and what infrastructure is worth paying for.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874520" cy="3017520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331720"/>
            <a:ext cx="621792" cy="420624"/>
          </a:xfrm>
          <a:prstGeom prst="ellipse">
            <a:avLst/>
          </a:prstGeom>
          <a:solidFill>
            <a:srgbClr val="2D8B7A">
              <a:alpha val="92000"/>
            </a:srgbClr>
          </a:solidFill>
          <a:ln w="10160">
            <a:solidFill>
              <a:srgbClr val="2D8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33375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benefit from knowing and learning from one another.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4251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4088" y="4526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contact · trust · easy exchange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80360" y="2103120"/>
            <a:ext cx="1874520" cy="3017520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2331720"/>
            <a:ext cx="621792" cy="420624"/>
          </a:xfrm>
          <a:prstGeom prst="ellipse">
            <a:avLst/>
          </a:prstGeom>
          <a:solidFill>
            <a:srgbClr val="8BA4B8">
              <a:alpha val="92000"/>
            </a:srgbClr>
          </a:solidFill>
          <a:ln w="10160">
            <a:solidFill>
              <a:srgbClr val="8BA4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33375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adjust what we do because of what others are doing.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4251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17520" y="4526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· roles · hand-offs · boundaries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93792" y="2103120"/>
            <a:ext cx="1874520" cy="3017520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5584" y="2331720"/>
            <a:ext cx="621792" cy="420624"/>
          </a:xfrm>
          <a:prstGeom prst="ellipse">
            <a:avLst/>
          </a:prstGeom>
          <a:solidFill>
            <a:srgbClr val="6F8F78">
              <a:alpha val="92000"/>
            </a:srgbClr>
          </a:solidFill>
          <a:ln w="10160">
            <a:solidFill>
              <a:srgbClr val="6F8F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0952" y="33375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contribute distinct things towards something shared.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30952" y="4251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F8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30952" y="4526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· commitments · ownership of pieces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07224" y="2103120"/>
            <a:ext cx="1874520" cy="3017520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9016" y="2331720"/>
            <a:ext cx="621792" cy="420624"/>
          </a:xfrm>
          <a:prstGeom prst="ellipse">
            <a:avLst/>
          </a:prstGeom>
          <a:solidFill>
            <a:srgbClr val="D4993D">
              <a:alpha val="92000"/>
            </a:srgbClr>
          </a:solidFill>
          <a:ln w="10160">
            <a:solidFill>
              <a:srgbClr val="D49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44384" y="33375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and own important things together.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44384" y="4251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44384" y="4526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decisions · trust · time · repair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820656" y="2103120"/>
            <a:ext cx="1874520" cy="3017520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42448" y="2331720"/>
            <a:ext cx="621792" cy="420624"/>
          </a:xfrm>
          <a:prstGeom prst="ellipse">
            <a:avLst/>
          </a:prstGeom>
          <a:solidFill>
            <a:srgbClr val="C75B3A">
              <a:alpha val="92000"/>
            </a:srgbClr>
          </a:solidFill>
          <a:ln w="10160">
            <a:solidFill>
              <a:srgbClr val="C75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0384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57816" y="33375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contribute to and steward something others can use and shape.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957816" y="4251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957816" y="4526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 · standards · stewardship · contribution rules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80160" y="55321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5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Sometimes a referral is exactly what is needed. Turning it into a “collaboration” would just add meetings.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ORTHOGONAL CHOICES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the environment around the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is not the same as collaborative. Distributed is not the same as open.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OPEN?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103120" cy="91440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8D0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797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0906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stays private?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4640" y="3063240"/>
            <a:ext cx="411480" cy="0"/>
          </a:xfrm>
          <a:prstGeom prst="line">
            <a:avLst/>
          </a:prstGeom>
          <a:noFill/>
          <a:ln w="17780">
            <a:solidFill>
              <a:srgbClr val="758093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37560" y="2606040"/>
            <a:ext cx="2103120" cy="91440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8D0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7797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30906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others see?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40680" y="3063240"/>
            <a:ext cx="411480" cy="0"/>
          </a:xfrm>
          <a:prstGeom prst="line">
            <a:avLst/>
          </a:prstGeom>
          <a:noFill/>
          <a:ln w="17780">
            <a:solidFill>
              <a:srgbClr val="758093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2606040"/>
            <a:ext cx="2103120" cy="91440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8D0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27797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53328" y="30906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shape it?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46720" y="3063240"/>
            <a:ext cx="411480" cy="0"/>
          </a:xfrm>
          <a:prstGeom prst="line">
            <a:avLst/>
          </a:prstGeom>
          <a:noFill/>
          <a:ln w="17780">
            <a:solidFill>
              <a:srgbClr val="758093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49640" y="2606040"/>
            <a:ext cx="2103120" cy="914400"/>
          </a:xfrm>
          <a:prstGeom prst="roundRect">
            <a:avLst/>
          </a:prstGeom>
          <a:solidFill>
            <a:srgbClr val="2D8B7A"/>
          </a:solidFill>
          <a:ln w="10160">
            <a:solidFill>
              <a:srgbClr val="2D8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9368" y="27797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59368" y="30906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take and adapt it?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3730752"/>
            <a:ext cx="9784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open working   ·   Outputs: Creative Commons   ·   Software: open source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3708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CONTROL SIT?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2103120" cy="86868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8D0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956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52395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authority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2834640" y="5212080"/>
            <a:ext cx="411480" cy="0"/>
          </a:xfrm>
          <a:prstGeom prst="line">
            <a:avLst/>
          </a:prstGeom>
          <a:noFill/>
          <a:ln w="17780">
            <a:solidFill>
              <a:srgbClr val="758093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37560" y="4800600"/>
            <a:ext cx="2103120" cy="86868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8D0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47288" y="4956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47288" y="52395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held together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440680" y="5212080"/>
            <a:ext cx="411480" cy="0"/>
          </a:xfrm>
          <a:prstGeom prst="line">
            <a:avLst/>
          </a:prstGeom>
          <a:noFill/>
          <a:ln w="17780">
            <a:solidFill>
              <a:srgbClr val="758093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0" y="4800600"/>
            <a:ext cx="2103120" cy="868680"/>
          </a:xfrm>
          <a:prstGeom prst="roundRect">
            <a:avLst/>
          </a:prstGeom>
          <a:solidFill>
            <a:srgbClr val="D4993D"/>
          </a:solidFill>
          <a:ln w="10160">
            <a:solidFill>
              <a:srgbClr val="D499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4956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53328" y="52395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rules + local autonomy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8046720" y="5212080"/>
            <a:ext cx="411480" cy="0"/>
          </a:xfrm>
          <a:prstGeom prst="line">
            <a:avLst/>
          </a:prstGeom>
          <a:noFill/>
          <a:ln w="17780">
            <a:solidFill>
              <a:srgbClr val="758093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549640" y="4800600"/>
            <a:ext cx="2103120" cy="86868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8D0C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9368" y="4956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59368" y="52395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centre required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 ≠ collaborative   ·   Open ≠ decentralised   ·   Reusable ≠ participatory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&amp; RECIPROCITY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flows between us?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 describes how you are relating. Reciprocity describes what flows.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44568" y="2194560"/>
            <a:ext cx="3026664" cy="1737360"/>
          </a:xfrm>
          <a:prstGeom prst="ellipse">
            <a:avLst/>
          </a:prstGeom>
          <a:solidFill>
            <a:srgbClr val="2D8B7A">
              <a:alpha val="16000"/>
            </a:srgbClr>
          </a:solidFill>
          <a:ln w="12700">
            <a:solidFill>
              <a:srgbClr val="2D8B7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2240280"/>
            <a:ext cx="2880360" cy="1645920"/>
          </a:xfrm>
          <a:prstGeom prst="ellipse">
            <a:avLst/>
          </a:prstGeom>
          <a:solidFill>
            <a:srgbClr val="EBE4D8"/>
          </a:solidFill>
          <a:ln w="15240">
            <a:solidFill>
              <a:srgbClr val="D8CC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7448" y="2331720"/>
            <a:ext cx="2660904" cy="1463040"/>
          </a:xfrm>
          <a:prstGeom prst="ellipse">
            <a:avLst/>
          </a:prstGeom>
          <a:solidFill>
            <a:srgbClr val="EBE4D8">
              <a:alpha val="92000"/>
            </a:srgbClr>
          </a:solidFill>
          <a:ln w="10160">
            <a:solidFill>
              <a:srgbClr val="EBE4D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7448" y="2799893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ARRANGEMENT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82312" y="3161995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do not need to be equal — but should be intentional, understood and reasonably fair.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214884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2D8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22199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1805940" y="2308860"/>
            <a:ext cx="4247388" cy="754380"/>
          </a:xfrm>
          <a:prstGeom prst="line">
            <a:avLst/>
          </a:prstGeom>
          <a:noFill/>
          <a:ln w="17780">
            <a:solidFill>
              <a:srgbClr val="2D8B7A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53328" y="3063240"/>
            <a:ext cx="-4247388" cy="-754380"/>
          </a:xfrm>
          <a:prstGeom prst="line">
            <a:avLst/>
          </a:prstGeom>
          <a:noFill/>
          <a:ln w="17780">
            <a:solidFill>
              <a:srgbClr val="2D8B7A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429768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D49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437083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623060" y="4457700"/>
            <a:ext cx="4430268" cy="-1394460"/>
          </a:xfrm>
          <a:prstGeom prst="line">
            <a:avLst/>
          </a:prstGeom>
          <a:noFill/>
          <a:ln w="17780">
            <a:solidFill>
              <a:srgbClr val="D4993D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507492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C75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8064" y="514807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543300" y="5234940"/>
            <a:ext cx="2510028" cy="-2171700"/>
          </a:xfrm>
          <a:prstGeom prst="line">
            <a:avLst/>
          </a:prstGeom>
          <a:noFill/>
          <a:ln w="17780">
            <a:solidFill>
              <a:srgbClr val="C75B3A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53328" y="3063240"/>
            <a:ext cx="-2510028" cy="2171700"/>
          </a:xfrm>
          <a:prstGeom prst="line">
            <a:avLst/>
          </a:prstGeom>
          <a:noFill/>
          <a:ln w="17780">
            <a:solidFill>
              <a:srgbClr val="C75B3A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46320" y="525780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8BA4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533095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LABOUR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646420" y="5417820"/>
            <a:ext cx="406908" cy="-2354580"/>
          </a:xfrm>
          <a:prstGeom prst="line">
            <a:avLst/>
          </a:prstGeom>
          <a:noFill/>
          <a:ln w="17780">
            <a:solidFill>
              <a:srgbClr val="8BA4B8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0" y="507492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6F8F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0064" y="514807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6F8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8115300" y="5234940"/>
            <a:ext cx="-2061972" cy="-2171700"/>
          </a:xfrm>
          <a:prstGeom prst="line">
            <a:avLst/>
          </a:prstGeom>
          <a:noFill/>
          <a:ln w="17780">
            <a:solidFill>
              <a:srgbClr val="6F8F78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53328" y="3063240"/>
            <a:ext cx="2061972" cy="2171700"/>
          </a:xfrm>
          <a:prstGeom prst="line">
            <a:avLst/>
          </a:prstGeom>
          <a:noFill/>
          <a:ln w="17780">
            <a:solidFill>
              <a:srgbClr val="6F8F78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64040" y="416052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3AA0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18904" y="423367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3A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10264140" y="4320540"/>
            <a:ext cx="-4210812" cy="-1257300"/>
          </a:xfrm>
          <a:prstGeom prst="line">
            <a:avLst/>
          </a:prstGeom>
          <a:noFill/>
          <a:ln w="17780">
            <a:solidFill>
              <a:srgbClr val="3AA08D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55480" y="205740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E0AD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0344" y="213055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0A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LEGITIMACY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10355580" y="2217420"/>
            <a:ext cx="-4302252" cy="845820"/>
          </a:xfrm>
          <a:prstGeom prst="line">
            <a:avLst/>
          </a:prstGeom>
          <a:noFill/>
          <a:ln w="17780">
            <a:solidFill>
              <a:srgbClr val="E0AD56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53328" y="3063240"/>
            <a:ext cx="4302252" cy="-845820"/>
          </a:xfrm>
          <a:prstGeom prst="line">
            <a:avLst/>
          </a:prstGeom>
          <a:noFill/>
          <a:ln w="17780">
            <a:solidFill>
              <a:srgbClr val="E0AD56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06640" y="1417320"/>
            <a:ext cx="160020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C75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61504" y="1490472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206740" y="1577340"/>
            <a:ext cx="-2153412" cy="1485900"/>
          </a:xfrm>
          <a:prstGeom prst="line">
            <a:avLst/>
          </a:prstGeom>
          <a:noFill/>
          <a:ln w="17780">
            <a:solidFill>
              <a:srgbClr val="C75B3A">
                <a:alpha val="95000"/>
              </a:srgbClr>
            </a:solidFill>
            <a:prstDash val="dash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148840" y="6007608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5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One-way exchange presented as “collaboration” deserves scrutiny.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PRACTICE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modes need different infrastructure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“how collaborative are we?” but “what do we need to make this mode work well?”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8483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148840" y="208483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NEEDS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45152" y="2084832"/>
            <a:ext cx="2578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QUESTION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06640" y="2084832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FOR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2368296"/>
            <a:ext cx="11018520" cy="585216"/>
          </a:xfrm>
          <a:prstGeom prst="rect">
            <a:avLst/>
          </a:prstGeom>
          <a:solidFill>
            <a:srgbClr val="FEFCF9"/>
          </a:solidFill>
          <a:ln w="12700">
            <a:solidFill>
              <a:srgbClr val="FEF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059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2148840" y="24505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social infrastructure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645152" y="245059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stays connected? How?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406640" y="245059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ties disappear when key people leave.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8B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148840" y="31089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+ role infrastructure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645152" y="310896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what? What needs visibility?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406640" y="310896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work, duplication and broken hand-offs.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66928" y="3685032"/>
            <a:ext cx="11018520" cy="585216"/>
          </a:xfrm>
          <a:prstGeom prst="rect">
            <a:avLst/>
          </a:prstGeom>
          <a:solidFill>
            <a:srgbClr val="FEFCF9"/>
          </a:solidFill>
          <a:ln w="12700">
            <a:solidFill>
              <a:srgbClr val="FEF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673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6F8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2148840" y="3767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+ delivery infrastructure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645152" y="376732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which piece? What is promised?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406640" y="376732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goal, unequal load or vague accountability.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640080" y="442569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2148840" y="442569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+ decision infrastructure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645152" y="442569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decide? How do we disagree and repair?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406640" y="442569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party controls the important choices.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5001768"/>
            <a:ext cx="11018520" cy="585216"/>
          </a:xfrm>
          <a:prstGeom prst="rect">
            <a:avLst/>
          </a:prstGeom>
          <a:solidFill>
            <a:srgbClr val="FEFCF9"/>
          </a:solidFill>
          <a:ln w="12700">
            <a:solidFill>
              <a:srgbClr val="FEFC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8406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2148840" y="508406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Stewardship + contribution infrastructure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645152" y="508406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use, change, contribute, maintain or fork?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406640" y="508406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use, closed to meaningful influence.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22960" y="5870448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arrangement honestly. A commission, grant, procurement or consultation can be perfectly legitimate without pretending to be collaboration.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DISTINCTION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and commons are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collaborate with people. You contribute to, draw from and steward a commons.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166360" cy="379476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D49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677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of gravity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31720" y="276148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960120" y="325526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31720" y="325526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+ decide together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960120" y="37490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749040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one another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60120" y="42428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424281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· meetings · decisions · conflict / repair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question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31720" y="4736592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voice counts?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960120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523036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Change, loosen or leave the relationship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309360" y="2057400"/>
            <a:ext cx="5166360" cy="379476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C75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2677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27614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of gravity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09560" y="276148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thing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537960" y="325526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09560" y="3255264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· use · steward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537960" y="37490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09560" y="3749040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shared resource / infrastructure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537960" y="42428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09560" y="424281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Licences · standards · repositories · documentation · contribution rules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537960" y="47365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question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09560" y="4736592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controls the commons?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537960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09560" y="523036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· hand over · archive · fork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727448" y="6062472"/>
            <a:ext cx="2743200" cy="320040"/>
          </a:xfrm>
          <a:prstGeom prst="roundRect">
            <a:avLst/>
          </a:prstGeom>
          <a:solidFill>
            <a:srgbClr val="F5F0E8"/>
          </a:solidFill>
          <a:ln w="1524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6135624"/>
            <a:ext cx="2633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INFRASTRUCTURE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&amp; EXIT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island needs a way 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how the relationship can change — before changing it becomes contentious.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214884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2D8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22199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02152" y="214884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8BA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222199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91072" y="214884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C75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222199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79992" y="214884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6F8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4856" y="222199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8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278892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D49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86207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9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02152" y="278892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3AA0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7016" y="286207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278892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C75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86207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5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79992" y="2788920"/>
            <a:ext cx="2240280" cy="320040"/>
          </a:xfrm>
          <a:prstGeom prst="roundRect">
            <a:avLst/>
          </a:prstGeom>
          <a:solidFill>
            <a:srgbClr val="FEFCF9"/>
          </a:solidFill>
          <a:ln w="15240">
            <a:solidFill>
              <a:srgbClr val="7580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4856" y="2862072"/>
            <a:ext cx="2130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" y="3730752"/>
            <a:ext cx="3456432" cy="173736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DD4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730752"/>
            <a:ext cx="54864" cy="1737360"/>
          </a:xfrm>
          <a:prstGeom prst="rect">
            <a:avLst/>
          </a:prstGeom>
          <a:solidFill>
            <a:srgbClr val="2D8B7A"/>
          </a:solidFill>
          <a:ln w="12700">
            <a:solidFill>
              <a:srgbClr val="2D8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85876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we know when?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824" y="4142232"/>
            <a:ext cx="314553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achieved · conditions changed · costs outweigh value · participation is no longer meaningful · another mode now fits better.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370832" y="3730752"/>
            <a:ext cx="3456432" cy="173736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DD4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3730752"/>
            <a:ext cx="54864" cy="1737360"/>
          </a:xfrm>
          <a:prstGeom prst="rect">
            <a:avLst/>
          </a:prstGeom>
          <a:solidFill>
            <a:srgbClr val="D4993D"/>
          </a:solidFill>
          <a:ln w="12700">
            <a:solidFill>
              <a:srgbClr val="D49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385876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35424" y="4142232"/>
            <a:ext cx="314553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· changed · unsustainable · misaligned · unhealthy · evolving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028432" y="3730752"/>
            <a:ext cx="3456432" cy="1737360"/>
          </a:xfrm>
          <a:prstGeom prst="roundRect">
            <a:avLst/>
          </a:prstGeom>
          <a:solidFill>
            <a:srgbClr val="FEFCF9"/>
          </a:solidFill>
          <a:ln w="10160">
            <a:solidFill>
              <a:srgbClr val="DDD4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28432" y="3730752"/>
            <a:ext cx="54864" cy="1737360"/>
          </a:xfrm>
          <a:prstGeom prst="rect">
            <a:avLst/>
          </a:prstGeom>
          <a:solidFill>
            <a:srgbClr val="C75B3A"/>
          </a:solidFill>
          <a:ln w="12700">
            <a:solidFill>
              <a:srgbClr val="C75B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385876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actually do it?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93024" y="4142232"/>
            <a:ext cx="314553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· notice · commitments · data / IP / access · stewardship · communication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3749040" y="58247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75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commons: can it be forked?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8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CANVAS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set sail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44475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six questions to design the arrangement — then choose the mode, openness and distribution of control that fit.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075688"/>
            <a:ext cx="3493008" cy="1353312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438912" cy="438912"/>
          </a:xfrm>
          <a:prstGeom prst="ellipse">
            <a:avLst/>
          </a:prstGeom>
          <a:solidFill>
            <a:srgbClr val="2D8B7A"/>
          </a:solidFill>
          <a:ln w="12700">
            <a:solidFill>
              <a:srgbClr val="2D8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40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08176" y="22402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08176" y="25511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actually trying to achieve together?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be different if this worked?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480560" y="2075688"/>
            <a:ext cx="3493008" cy="1353312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240280"/>
            <a:ext cx="438912" cy="438912"/>
          </a:xfrm>
          <a:prstGeom prst="ellipse">
            <a:avLst/>
          </a:prstGeom>
          <a:solidFill>
            <a:srgbClr val="C75B3A"/>
          </a:solidFill>
          <a:ln w="12700">
            <a:solidFill>
              <a:srgbClr val="C75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340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30368" y="22402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30368" y="25511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has money, authority, information and the ability to walk away?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power differences need naming or balancing?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302752" y="2075688"/>
            <a:ext cx="3493008" cy="1353312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2240280"/>
            <a:ext cx="438912" cy="438912"/>
          </a:xfrm>
          <a:prstGeom prst="ellipse">
            <a:avLst/>
          </a:prstGeom>
          <a:solidFill>
            <a:srgbClr val="D4993D"/>
          </a:solidFill>
          <a:ln w="12700">
            <a:solidFill>
              <a:srgbClr val="D49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340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0" y="22402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52560" y="25511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decided together — and what does not?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commit the organisations involved?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58368" y="3703320"/>
            <a:ext cx="3493008" cy="1353312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867912"/>
            <a:ext cx="438912" cy="438912"/>
          </a:xfrm>
          <a:prstGeom prst="ellipse">
            <a:avLst/>
          </a:prstGeom>
          <a:solidFill>
            <a:srgbClr val="6F8F78"/>
          </a:solidFill>
          <a:ln w="12700">
            <a:solidFill>
              <a:srgbClr val="6F8F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684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08176" y="386791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&amp; RECIPROCITY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08176" y="41788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each participant put in, and what can they draw from?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feel unfair or extractive?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480560" y="3703320"/>
            <a:ext cx="3493008" cy="1353312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3867912"/>
            <a:ext cx="438912" cy="438912"/>
          </a:xfrm>
          <a:prstGeom prst="ellipse">
            <a:avLst/>
          </a:prstGeom>
          <a:solidFill>
            <a:srgbClr val="8BA4B8"/>
          </a:solidFill>
          <a:ln w="12700">
            <a:solidFill>
              <a:srgbClr val="8BA4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9684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0368" y="386791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 &amp; OWNERSHIP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30368" y="41788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see, use, change and share the work or outputs?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remain private — and why?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8302752" y="3703320"/>
            <a:ext cx="3493008" cy="1353312"/>
          </a:xfrm>
          <a:prstGeom prst="roundRect">
            <a:avLst/>
          </a:prstGeom>
          <a:solidFill>
            <a:srgbClr val="FEFCF9"/>
          </a:solidFill>
          <a:ln w="8890">
            <a:solidFill>
              <a:srgbClr val="DDD4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7344" y="3867912"/>
            <a:ext cx="438912" cy="438912"/>
          </a:xfrm>
          <a:prstGeom prst="ellipse">
            <a:avLst/>
          </a:prstGeom>
          <a:solidFill>
            <a:srgbClr val="3AA08D"/>
          </a:solidFill>
          <a:ln w="12700">
            <a:solidFill>
              <a:srgbClr val="3AA0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7344" y="39684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F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52560" y="3867912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&amp; EXIT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52560" y="41788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we know when this arrangement should change?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24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decides, and what happens to the work, money, data and relationships?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932688" y="5513832"/>
            <a:ext cx="10287000" cy="621792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573328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choose:   MODE  ·  OPENNESS  ·  WHERE CONTROL SITS  ·  WHAT FLOWS  ·  HOW IT CHANGES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09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The Good 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how we work together</dc:title>
  <dc:subject>Designing how we work together</dc:subject>
  <dc:creator>The Good Ship</dc:creator>
  <cp:lastModifiedBy>The Good Ship</cp:lastModifiedBy>
  <cp:revision>1</cp:revision>
  <dcterms:created xsi:type="dcterms:W3CDTF">2026-08-20T14:46:02Z</dcterms:created>
  <dcterms:modified xsi:type="dcterms:W3CDTF">2026-08-20T14:46:02Z</dcterms:modified>
</cp:coreProperties>
</file>