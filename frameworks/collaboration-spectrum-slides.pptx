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OODSHIP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20" kern="0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good ship · framework</a:t>
            </a:r>
            <a:endParaRPr lang="en-US" sz="880" dirty="0"/>
          </a:p>
        </p:txBody>
      </p:sp>
      <p:sp>
        <p:nvSpPr>
          <p:cNvPr id="3" name="Text 1"/>
          <p:cNvSpPr/>
          <p:nvPr/>
        </p:nvSpPr>
        <p:spPr>
          <a:xfrm>
            <a:off x="10881360" y="651052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78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CC BY-NC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256032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B778D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256032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B778D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wide_stylized_vector_illustration_map_scene_ov_batch_1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>
              <a:alpha val="76000"/>
            </a:srgbClr>
          </a:solidFill>
          <a:ln w="12700">
            <a:solidFill>
              <a:srgbClr val="1B2A4A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5623560" cy="6858000"/>
          </a:xfrm>
          <a:prstGeom prst="rect">
            <a:avLst/>
          </a:prstGeom>
          <a:solidFill>
            <a:srgbClr val="1B2A4A">
              <a:alpha val="92000"/>
            </a:srgbClr>
          </a:solidFill>
          <a:ln w="12700">
            <a:solidFill>
              <a:srgbClr val="1B2A4A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58368" y="6858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0AD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GOOD SHIP · FRAMEWORK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40080" y="12344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5F0E8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Designing how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5F0E8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we work together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76656" y="3310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everything needs collaboration.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76656" y="3886200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DCE3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modes for designing relationships, openness, control, reciprocity, governance and exit.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76656" y="56235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AD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isn't better. Choose what the work actually needs.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02920" y="6510528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D7E1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good ship · framework</a:t>
            </a:r>
            <a:endParaRPr lang="en-US" sz="760" dirty="0"/>
          </a:p>
        </p:txBody>
      </p:sp>
      <p:sp>
        <p:nvSpPr>
          <p:cNvPr id="11" name="Text 8"/>
          <p:cNvSpPr/>
          <p:nvPr/>
        </p:nvSpPr>
        <p:spPr>
          <a:xfrm>
            <a:off x="11384280" y="6510528"/>
            <a:ext cx="228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D7E1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clean_stylized_abstract_map_infographic_illustr_batch_2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1B2A4A">
              <a:alpha val="92000"/>
            </a:srgbClr>
          </a:solidFill>
          <a:ln w="12700">
            <a:solidFill>
              <a:srgbClr val="1B2A4A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3840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0E8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The archipelago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85216" y="84124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DDE5E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modes. Not stages. You can use several at once, and move between them.</a:t>
            </a:r>
            <a:endParaRPr lang="en-US" sz="1230" dirty="0"/>
          </a:p>
        </p:txBody>
      </p:sp>
      <p:sp>
        <p:nvSpPr>
          <p:cNvPr id="6" name="Shape 3"/>
          <p:cNvSpPr/>
          <p:nvPr/>
        </p:nvSpPr>
        <p:spPr>
          <a:xfrm>
            <a:off x="594360" y="1417320"/>
            <a:ext cx="1993392" cy="713232"/>
          </a:xfrm>
          <a:prstGeom prst="roundRect">
            <a:avLst>
              <a:gd name="adj" fmla="val 7692"/>
            </a:avLst>
          </a:prstGeom>
          <a:solidFill>
            <a:srgbClr val="F5F0E8">
              <a:alpha val="96000"/>
            </a:srgbClr>
          </a:solidFill>
          <a:ln w="13970">
            <a:solidFill>
              <a:srgbClr val="2D8B7A">
                <a:alpha val="96000"/>
              </a:srgbClr>
            </a:solidFill>
            <a:prstDash val="solid"/>
          </a:ln>
          <a:effectLst>
            <a:outerShdw sx="100000" sy="100000" kx="0" ky="0" algn="bl" rotWithShape="0" blurRad="15240" dist="6350" dir="27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04088" y="1508760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CONNECT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04088" y="1746504"/>
            <a:ext cx="1773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Know, learn, refer, exchange.</a:t>
            </a:r>
            <a:endParaRPr lang="en-US" sz="870" dirty="0"/>
          </a:p>
        </p:txBody>
      </p:sp>
      <p:sp>
        <p:nvSpPr>
          <p:cNvPr id="9" name="Shape 6"/>
          <p:cNvSpPr/>
          <p:nvPr/>
        </p:nvSpPr>
        <p:spPr>
          <a:xfrm>
            <a:off x="8549640" y="1298448"/>
            <a:ext cx="2880360" cy="713232"/>
          </a:xfrm>
          <a:prstGeom prst="roundRect">
            <a:avLst>
              <a:gd name="adj" fmla="val 7692"/>
            </a:avLst>
          </a:prstGeom>
          <a:solidFill>
            <a:srgbClr val="F5F0E8">
              <a:alpha val="96000"/>
            </a:srgbClr>
          </a:solidFill>
          <a:ln w="13970">
            <a:solidFill>
              <a:srgbClr val="C75B3A">
                <a:alpha val="96000"/>
              </a:srgbClr>
            </a:solidFill>
            <a:prstDash val="solid"/>
          </a:ln>
          <a:effectLst>
            <a:outerShdw sx="100000" sy="100000" kx="0" ky="0" algn="bl" rotWithShape="0" blurRad="15240" dist="6350" dir="27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59368" y="1389888"/>
            <a:ext cx="2660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COMMONS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659368" y="1627632"/>
            <a:ext cx="26609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Contribute to and steward something others can use.</a:t>
            </a:r>
            <a:endParaRPr lang="en-US" sz="870" dirty="0"/>
          </a:p>
        </p:txBody>
      </p:sp>
      <p:sp>
        <p:nvSpPr>
          <p:cNvPr id="12" name="Shape 9"/>
          <p:cNvSpPr/>
          <p:nvPr/>
        </p:nvSpPr>
        <p:spPr>
          <a:xfrm>
            <a:off x="4846320" y="2990088"/>
            <a:ext cx="2514600" cy="713232"/>
          </a:xfrm>
          <a:prstGeom prst="roundRect">
            <a:avLst>
              <a:gd name="adj" fmla="val 7692"/>
            </a:avLst>
          </a:prstGeom>
          <a:solidFill>
            <a:srgbClr val="F5F0E8">
              <a:alpha val="96000"/>
            </a:srgbClr>
          </a:solidFill>
          <a:ln w="13970">
            <a:solidFill>
              <a:srgbClr val="D4993D">
                <a:alpha val="96000"/>
              </a:srgbClr>
            </a:solidFill>
            <a:prstDash val="solid"/>
          </a:ln>
          <a:effectLst>
            <a:outerShdw sx="100000" sy="100000" kx="0" ky="0" algn="bl" rotWithShape="0" blurRad="15240" dist="6350" dir="27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956048" y="3081528"/>
            <a:ext cx="2295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COLLABORATE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956048" y="3319272"/>
            <a:ext cx="22951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and own important things together.</a:t>
            </a:r>
            <a:endParaRPr lang="en-US" sz="870" dirty="0"/>
          </a:p>
        </p:txBody>
      </p:sp>
      <p:sp>
        <p:nvSpPr>
          <p:cNvPr id="15" name="Shape 12"/>
          <p:cNvSpPr/>
          <p:nvPr/>
        </p:nvSpPr>
        <p:spPr>
          <a:xfrm>
            <a:off x="658368" y="5029200"/>
            <a:ext cx="2606040" cy="713232"/>
          </a:xfrm>
          <a:prstGeom prst="roundRect">
            <a:avLst>
              <a:gd name="adj" fmla="val 7692"/>
            </a:avLst>
          </a:prstGeom>
          <a:solidFill>
            <a:srgbClr val="F5F0E8">
              <a:alpha val="96000"/>
            </a:srgbClr>
          </a:solidFill>
          <a:ln w="13970">
            <a:solidFill>
              <a:srgbClr val="D4993D">
                <a:alpha val="96000"/>
              </a:srgbClr>
            </a:solidFill>
            <a:prstDash val="solid"/>
          </a:ln>
          <a:effectLst>
            <a:outerShdw sx="100000" sy="100000" kx="0" ky="0" algn="bl" rotWithShape="0" blurRad="15240" dist="6350" dir="27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68096" y="5120640"/>
            <a:ext cx="2386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COORDINATE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58384"/>
            <a:ext cx="23865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Adjust what you do around one another.</a:t>
            </a:r>
            <a:endParaRPr lang="en-US" sz="870" dirty="0"/>
          </a:p>
        </p:txBody>
      </p:sp>
      <p:sp>
        <p:nvSpPr>
          <p:cNvPr id="18" name="Shape 15"/>
          <p:cNvSpPr/>
          <p:nvPr/>
        </p:nvSpPr>
        <p:spPr>
          <a:xfrm>
            <a:off x="8275320" y="4956048"/>
            <a:ext cx="3182112" cy="713232"/>
          </a:xfrm>
          <a:prstGeom prst="roundRect">
            <a:avLst>
              <a:gd name="adj" fmla="val 7692"/>
            </a:avLst>
          </a:prstGeom>
          <a:solidFill>
            <a:srgbClr val="F5F0E8">
              <a:alpha val="96000"/>
            </a:srgbClr>
          </a:solidFill>
          <a:ln w="13970">
            <a:solidFill>
              <a:srgbClr val="8BA4B8">
                <a:alpha val="96000"/>
              </a:srgbClr>
            </a:solidFill>
            <a:prstDash val="solid"/>
          </a:ln>
          <a:effectLst>
            <a:outerShdw sx="100000" sy="100000" kx="0" ky="0" algn="bl" rotWithShape="0" blurRad="15240" dist="6350" dir="27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385048" y="5047488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COOPERATE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385048" y="5285232"/>
            <a:ext cx="2962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Contribute distinct things towards something shared.</a:t>
            </a:r>
            <a:endParaRPr lang="en-US" sz="870" dirty="0"/>
          </a:p>
        </p:txBody>
      </p:sp>
      <p:sp>
        <p:nvSpPr>
          <p:cNvPr id="21" name="Shape 18"/>
          <p:cNvSpPr/>
          <p:nvPr/>
        </p:nvSpPr>
        <p:spPr>
          <a:xfrm>
            <a:off x="4690872" y="6108192"/>
            <a:ext cx="2697480" cy="292608"/>
          </a:xfrm>
          <a:prstGeom prst="roundRect">
            <a:avLst>
              <a:gd name="adj" fmla="val 25000"/>
            </a:avLst>
          </a:prstGeom>
          <a:solidFill>
            <a:srgbClr val="E9C7BB"/>
          </a:solidFill>
          <a:ln w="12700">
            <a:solidFill>
              <a:srgbClr val="E9C7B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64024" y="6153912"/>
            <a:ext cx="2551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75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MATURITY MODEL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502920" y="6510528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D7E1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good ship · framework</a:t>
            </a:r>
            <a:endParaRPr lang="en-US" sz="760" dirty="0"/>
          </a:p>
        </p:txBody>
      </p:sp>
      <p:sp>
        <p:nvSpPr>
          <p:cNvPr id="24" name="Text 21"/>
          <p:cNvSpPr/>
          <p:nvPr/>
        </p:nvSpPr>
        <p:spPr>
          <a:xfrm>
            <a:off x="11384280" y="6510528"/>
            <a:ext cx="228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D7E1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00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70" kern="0" dirty="0">
                <a:solidFill>
                  <a:srgbClr val="2D8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PRINCIPLE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Choose the lightest mode the work needs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664208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modes differ in how interdependent people are, what has to be shared, and what infrastructure is worth paying for.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76072" y="2331720"/>
            <a:ext cx="2148840" cy="3429000"/>
          </a:xfrm>
          <a:prstGeom prst="roundRect">
            <a:avLst>
              <a:gd name="adj" fmla="val 3404"/>
            </a:avLst>
          </a:prstGeom>
          <a:solidFill>
            <a:srgbClr val="F5F0E8">
              <a:alpha val="96000"/>
            </a:srgbClr>
          </a:solidFill>
          <a:ln w="12700">
            <a:solidFill>
              <a:srgbClr val="2D8B7A">
                <a:alpha val="9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2496312"/>
            <a:ext cx="189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CONNECT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04088" y="2999232"/>
            <a:ext cx="18928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benefit from knowing and learning from one another.</a:t>
            </a:r>
            <a:endParaRPr lang="en-US" sz="1210" dirty="0"/>
          </a:p>
        </p:txBody>
      </p:sp>
      <p:sp>
        <p:nvSpPr>
          <p:cNvPr id="8" name="Shape 6"/>
          <p:cNvSpPr/>
          <p:nvPr/>
        </p:nvSpPr>
        <p:spPr>
          <a:xfrm>
            <a:off x="704088" y="4361688"/>
            <a:ext cx="1892808" cy="0"/>
          </a:xfrm>
          <a:prstGeom prst="line">
            <a:avLst/>
          </a:prstGeom>
          <a:noFill/>
          <a:ln w="15240">
            <a:solidFill>
              <a:srgbClr val="2D8B7A">
                <a:alpha val="8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450799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8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04088" y="4800600"/>
            <a:ext cx="18928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Useful contact · trust · easy exchange</a:t>
            </a:r>
            <a:endParaRPr lang="en-US" sz="1060" dirty="0"/>
          </a:p>
        </p:txBody>
      </p:sp>
      <p:sp>
        <p:nvSpPr>
          <p:cNvPr id="11" name="Shape 9"/>
          <p:cNvSpPr/>
          <p:nvPr/>
        </p:nvSpPr>
        <p:spPr>
          <a:xfrm>
            <a:off x="2889504" y="2331720"/>
            <a:ext cx="2148840" cy="3429000"/>
          </a:xfrm>
          <a:prstGeom prst="roundRect">
            <a:avLst>
              <a:gd name="adj" fmla="val 3404"/>
            </a:avLst>
          </a:prstGeom>
          <a:solidFill>
            <a:srgbClr val="F5F0E8">
              <a:alpha val="96000"/>
            </a:srgbClr>
          </a:solidFill>
          <a:ln w="12700">
            <a:solidFill>
              <a:srgbClr val="D4993D">
                <a:alpha val="9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0" y="2496312"/>
            <a:ext cx="189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COORDINATE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017520" y="2999232"/>
            <a:ext cx="18928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adjust what we do because of what others are doing.</a:t>
            </a:r>
            <a:endParaRPr lang="en-US" sz="1210" dirty="0"/>
          </a:p>
        </p:txBody>
      </p:sp>
      <p:sp>
        <p:nvSpPr>
          <p:cNvPr id="14" name="Shape 12"/>
          <p:cNvSpPr/>
          <p:nvPr/>
        </p:nvSpPr>
        <p:spPr>
          <a:xfrm>
            <a:off x="3017520" y="4361688"/>
            <a:ext cx="1892808" cy="0"/>
          </a:xfrm>
          <a:prstGeom prst="line">
            <a:avLst/>
          </a:prstGeom>
          <a:noFill/>
          <a:ln w="15240">
            <a:solidFill>
              <a:srgbClr val="D4993D">
                <a:alpha val="8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17520" y="450799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9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017520" y="4800600"/>
            <a:ext cx="18928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Visibility · roles · hand-offs · boundaries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5202936" y="2331720"/>
            <a:ext cx="2148840" cy="3429000"/>
          </a:xfrm>
          <a:prstGeom prst="roundRect">
            <a:avLst>
              <a:gd name="adj" fmla="val 3404"/>
            </a:avLst>
          </a:prstGeom>
          <a:solidFill>
            <a:srgbClr val="F5F0E8">
              <a:alpha val="96000"/>
            </a:srgbClr>
          </a:solidFill>
          <a:ln w="12700">
            <a:solidFill>
              <a:srgbClr val="8BA4B8">
                <a:alpha val="9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30952" y="2496312"/>
            <a:ext cx="189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COOPERATE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330952" y="2999232"/>
            <a:ext cx="18928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contribute distinct things towards something shared.</a:t>
            </a:r>
            <a:endParaRPr lang="en-US" sz="1210" dirty="0"/>
          </a:p>
        </p:txBody>
      </p:sp>
      <p:sp>
        <p:nvSpPr>
          <p:cNvPr id="20" name="Shape 18"/>
          <p:cNvSpPr/>
          <p:nvPr/>
        </p:nvSpPr>
        <p:spPr>
          <a:xfrm>
            <a:off x="5330952" y="4361688"/>
            <a:ext cx="1892808" cy="0"/>
          </a:xfrm>
          <a:prstGeom prst="line">
            <a:avLst/>
          </a:prstGeom>
          <a:noFill/>
          <a:ln w="15240">
            <a:solidFill>
              <a:srgbClr val="8BA4B8">
                <a:alpha val="8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30952" y="450799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A4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30952" y="4800600"/>
            <a:ext cx="18928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 · commitments · ownership of pieces</a:t>
            </a:r>
            <a:endParaRPr lang="en-US" sz="1060" dirty="0"/>
          </a:p>
        </p:txBody>
      </p:sp>
      <p:sp>
        <p:nvSpPr>
          <p:cNvPr id="23" name="Shape 21"/>
          <p:cNvSpPr/>
          <p:nvPr/>
        </p:nvSpPr>
        <p:spPr>
          <a:xfrm>
            <a:off x="7516368" y="2331720"/>
            <a:ext cx="2148840" cy="3429000"/>
          </a:xfrm>
          <a:prstGeom prst="roundRect">
            <a:avLst>
              <a:gd name="adj" fmla="val 3404"/>
            </a:avLst>
          </a:prstGeom>
          <a:solidFill>
            <a:srgbClr val="F5F0E8">
              <a:alpha val="96000"/>
            </a:srgbClr>
          </a:solidFill>
          <a:ln w="12700">
            <a:solidFill>
              <a:srgbClr val="C75B3A">
                <a:alpha val="92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44384" y="2496312"/>
            <a:ext cx="189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COLLABORATE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644384" y="2999232"/>
            <a:ext cx="18928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make and own important things together.</a:t>
            </a:r>
            <a:endParaRPr lang="en-US" sz="1210" dirty="0"/>
          </a:p>
        </p:txBody>
      </p:sp>
      <p:sp>
        <p:nvSpPr>
          <p:cNvPr id="26" name="Shape 24"/>
          <p:cNvSpPr/>
          <p:nvPr/>
        </p:nvSpPr>
        <p:spPr>
          <a:xfrm>
            <a:off x="7644384" y="4361688"/>
            <a:ext cx="1892808" cy="0"/>
          </a:xfrm>
          <a:prstGeom prst="line">
            <a:avLst/>
          </a:prstGeom>
          <a:noFill/>
          <a:ln w="15240">
            <a:solidFill>
              <a:srgbClr val="C75B3A">
                <a:alpha val="8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44384" y="450799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75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644384" y="4800600"/>
            <a:ext cx="18928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decisions · trust · time · repair</a:t>
            </a:r>
            <a:endParaRPr lang="en-US" sz="1060" dirty="0"/>
          </a:p>
        </p:txBody>
      </p:sp>
      <p:sp>
        <p:nvSpPr>
          <p:cNvPr id="29" name="Shape 27"/>
          <p:cNvSpPr/>
          <p:nvPr/>
        </p:nvSpPr>
        <p:spPr>
          <a:xfrm>
            <a:off x="9829800" y="2331720"/>
            <a:ext cx="2148840" cy="3429000"/>
          </a:xfrm>
          <a:prstGeom prst="roundRect">
            <a:avLst>
              <a:gd name="adj" fmla="val 3404"/>
            </a:avLst>
          </a:prstGeom>
          <a:solidFill>
            <a:srgbClr val="F5F0E8">
              <a:alpha val="96000"/>
            </a:srgbClr>
          </a:solidFill>
          <a:ln w="12700">
            <a:solidFill>
              <a:srgbClr val="1B2A4A">
                <a:alpha val="92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57816" y="2496312"/>
            <a:ext cx="189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COMMONS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957816" y="2999232"/>
            <a:ext cx="18928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contribute to and steward something others can use and shape.</a:t>
            </a:r>
            <a:endParaRPr lang="en-US" sz="1210" dirty="0"/>
          </a:p>
        </p:txBody>
      </p:sp>
      <p:sp>
        <p:nvSpPr>
          <p:cNvPr id="32" name="Shape 30"/>
          <p:cNvSpPr/>
          <p:nvPr/>
        </p:nvSpPr>
        <p:spPr>
          <a:xfrm>
            <a:off x="9957816" y="4361688"/>
            <a:ext cx="1892808" cy="0"/>
          </a:xfrm>
          <a:prstGeom prst="line">
            <a:avLst/>
          </a:prstGeom>
          <a:noFill/>
          <a:ln w="15240">
            <a:solidFill>
              <a:srgbClr val="1B2A4A">
                <a:alpha val="8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57816" y="450799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957816" y="4800600"/>
            <a:ext cx="189280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Licences · standards · stewardship · contribution rules</a:t>
            </a:r>
            <a:endParaRPr lang="en-US" sz="1060" dirty="0"/>
          </a:p>
        </p:txBody>
      </p:sp>
      <p:sp>
        <p:nvSpPr>
          <p:cNvPr id="35" name="Text 33"/>
          <p:cNvSpPr/>
          <p:nvPr/>
        </p:nvSpPr>
        <p:spPr>
          <a:xfrm>
            <a:off x="713232" y="59893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C75B3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Sometimes a referral is exactly what is needed. Turning it into a “collaboration” would just add meetings.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256032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B778D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wide_stylized_vector_illustration_map_scene_ov_batch_1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>
              <a:alpha val="62000"/>
            </a:srgbClr>
          </a:solidFill>
          <a:ln w="12700">
            <a:solidFill>
              <a:srgbClr val="1B2A4A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6400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70" kern="0" dirty="0">
                <a:solidFill>
                  <a:srgbClr val="E0AD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ORTHOGONAL CHOICES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48640" y="93268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5F0E8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Design the environment around the mode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76072" y="1572768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9E1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is not the same as collaborative. Distributed is not the same as open.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21792" y="2240280"/>
            <a:ext cx="5394960" cy="2487168"/>
          </a:xfrm>
          <a:prstGeom prst="roundRect">
            <a:avLst>
              <a:gd name="adj" fmla="val 2941"/>
            </a:avLst>
          </a:prstGeom>
          <a:solidFill>
            <a:srgbClr val="F5F0E8">
              <a:alpha val="97000"/>
            </a:srgbClr>
          </a:solidFill>
          <a:ln w="10160">
            <a:solidFill>
              <a:srgbClr val="EBE4D8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7824" y="2542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2D8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OPEN?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77824" y="304495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057400" y="304495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291840" y="3044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Participatory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864608" y="304495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Reusable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60120" y="3529584"/>
            <a:ext cx="4526280" cy="0"/>
          </a:xfrm>
          <a:prstGeom prst="line">
            <a:avLst/>
          </a:prstGeom>
          <a:noFill/>
          <a:ln w="38100">
            <a:solidFill>
              <a:srgbClr val="2D8B7A"/>
            </a:solidFill>
            <a:prstDash val="solid"/>
            <a:headEnd type="none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877824" y="3822192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Process: open working</a:t>
            </a:r>
            <a:endParaRPr lang="en-US" sz="1030" dirty="0"/>
          </a:p>
        </p:txBody>
      </p:sp>
      <p:sp>
        <p:nvSpPr>
          <p:cNvPr id="15" name="Text 12"/>
          <p:cNvSpPr/>
          <p:nvPr/>
        </p:nvSpPr>
        <p:spPr>
          <a:xfrm>
            <a:off x="2615184" y="3822192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Outputs: Creative Commons</a:t>
            </a:r>
            <a:endParaRPr lang="en-US" sz="1030" dirty="0"/>
          </a:p>
        </p:txBody>
      </p:sp>
      <p:sp>
        <p:nvSpPr>
          <p:cNvPr id="16" name="Text 13"/>
          <p:cNvSpPr/>
          <p:nvPr/>
        </p:nvSpPr>
        <p:spPr>
          <a:xfrm>
            <a:off x="4407408" y="382219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Software: open source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6217920" y="2240280"/>
            <a:ext cx="5349240" cy="2487168"/>
          </a:xfrm>
          <a:prstGeom prst="roundRect">
            <a:avLst>
              <a:gd name="adj" fmla="val 2941"/>
            </a:avLst>
          </a:prstGeom>
          <a:solidFill>
            <a:srgbClr val="F5F0E8">
              <a:alpha val="97000"/>
            </a:srgbClr>
          </a:solidFill>
          <a:ln w="10160">
            <a:solidFill>
              <a:srgbClr val="EBE4D8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73952" y="254203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C75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DOES CONTROL SIT?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473952" y="30449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Led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653528" y="304495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897112" y="304495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Federated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378440" y="3044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Distributed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556248" y="3529584"/>
            <a:ext cx="4526280" cy="0"/>
          </a:xfrm>
          <a:prstGeom prst="line">
            <a:avLst/>
          </a:prstGeom>
          <a:noFill/>
          <a:ln w="38100">
            <a:solidFill>
              <a:srgbClr val="C75B3A"/>
            </a:solidFill>
            <a:prstDash val="solid"/>
            <a:headEnd type="none"/>
            <a:tailEnd type="triangle"/>
          </a:ln>
        </p:spPr>
      </p:sp>
      <p:sp>
        <p:nvSpPr>
          <p:cNvPr id="24" name="Text 21"/>
          <p:cNvSpPr/>
          <p:nvPr/>
        </p:nvSpPr>
        <p:spPr>
          <a:xfrm>
            <a:off x="6473952" y="3794760"/>
            <a:ext cx="46634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Central authority can be right. Federation is often useful when people need common rules and local autonomy.</a:t>
            </a:r>
            <a:endParaRPr lang="en-US" sz="1060" dirty="0"/>
          </a:p>
        </p:txBody>
      </p:sp>
      <p:sp>
        <p:nvSpPr>
          <p:cNvPr id="25" name="Shape 22"/>
          <p:cNvSpPr/>
          <p:nvPr/>
        </p:nvSpPr>
        <p:spPr>
          <a:xfrm>
            <a:off x="2340864" y="5166360"/>
            <a:ext cx="7452360" cy="749808"/>
          </a:xfrm>
          <a:prstGeom prst="roundRect">
            <a:avLst>
              <a:gd name="adj" fmla="val 9756"/>
            </a:avLst>
          </a:prstGeom>
          <a:solidFill>
            <a:srgbClr val="10213B">
              <a:alpha val="92000"/>
            </a:srgbClr>
          </a:solidFill>
          <a:ln w="10160">
            <a:solidFill>
              <a:srgbClr val="D4993D">
                <a:alpha val="60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606040" y="5413248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Decentralised ≠ collaborative   ·   Open ≠ decentralised   ·   Reusable ≠ participatory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02920" y="6510528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D7E1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good ship · framework</a:t>
            </a:r>
            <a:endParaRPr lang="en-US" sz="760" dirty="0"/>
          </a:p>
        </p:txBody>
      </p:sp>
      <p:sp>
        <p:nvSpPr>
          <p:cNvPr id="28" name="Text 25"/>
          <p:cNvSpPr/>
          <p:nvPr/>
        </p:nvSpPr>
        <p:spPr>
          <a:xfrm>
            <a:off x="11384280" y="6510528"/>
            <a:ext cx="228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D7E1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7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stylized_abstract_map_illustration_scene_a_dark_batch_3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>
              <a:alpha val="56000"/>
            </a:srgbClr>
          </a:solidFill>
          <a:ln w="12700">
            <a:solidFill>
              <a:srgbClr val="1B2A4A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B2A4A">
              <a:alpha val="93000"/>
            </a:srgbClr>
          </a:solidFill>
          <a:ln w="12700">
            <a:solidFill>
              <a:srgbClr val="1B2A4A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66928" y="6400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70" kern="0" dirty="0">
                <a:solidFill>
                  <a:srgbClr val="E0AD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CONTRIBUTION &amp; RECIPROCITY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93268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5F0E8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What flows between us?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76072" y="158191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9E1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 describes how you are relating. Reciprocity describes what flows.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94360" y="2331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D56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Reciprocity does not mean equal exchange.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94360" y="27889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DE5E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healthy arrangement can involve very different contributions — as long as they are intentional, understood and reasonably fair.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58368" y="3950208"/>
            <a:ext cx="1572768" cy="292608"/>
          </a:xfrm>
          <a:prstGeom prst="roundRect">
            <a:avLst>
              <a:gd name="adj" fmla="val 25000"/>
            </a:avLst>
          </a:prstGeom>
          <a:solidFill>
            <a:srgbClr val="2D8B7A"/>
          </a:solidFill>
          <a:ln w="12700">
            <a:solidFill>
              <a:srgbClr val="2D8B7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3995928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423160" y="3950208"/>
            <a:ext cx="1572768" cy="292608"/>
          </a:xfrm>
          <a:prstGeom prst="roundRect">
            <a:avLst>
              <a:gd name="adj" fmla="val 25000"/>
            </a:avLst>
          </a:prstGeom>
          <a:solidFill>
            <a:srgbClr val="D4993D"/>
          </a:solidFill>
          <a:ln w="12700">
            <a:solidFill>
              <a:srgbClr val="D499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496312" y="3995928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58368" y="4425696"/>
            <a:ext cx="1572768" cy="292608"/>
          </a:xfrm>
          <a:prstGeom prst="roundRect">
            <a:avLst>
              <a:gd name="adj" fmla="val 25000"/>
            </a:avLst>
          </a:prstGeom>
          <a:solidFill>
            <a:srgbClr val="C75B3A"/>
          </a:solidFill>
          <a:ln w="12700">
            <a:solidFill>
              <a:srgbClr val="C75B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4471416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MONEY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423160" y="4425696"/>
            <a:ext cx="1572768" cy="292608"/>
          </a:xfrm>
          <a:prstGeom prst="roundRect">
            <a:avLst>
              <a:gd name="adj" fmla="val 25000"/>
            </a:avLst>
          </a:prstGeom>
          <a:solidFill>
            <a:srgbClr val="8BA4B8"/>
          </a:solidFill>
          <a:ln w="12700">
            <a:solidFill>
              <a:srgbClr val="8BA4B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496312" y="4471416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LABOUR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58368" y="4901184"/>
            <a:ext cx="1572768" cy="292608"/>
          </a:xfrm>
          <a:prstGeom prst="roundRect">
            <a:avLst>
              <a:gd name="adj" fmla="val 25000"/>
            </a:avLst>
          </a:prstGeom>
          <a:solidFill>
            <a:srgbClr val="3AA08D"/>
          </a:solidFill>
          <a:ln w="12700">
            <a:solidFill>
              <a:srgbClr val="3AA08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4946904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2423160" y="4901184"/>
            <a:ext cx="1572768" cy="292608"/>
          </a:xfrm>
          <a:prstGeom prst="roundRect">
            <a:avLst>
              <a:gd name="adj" fmla="val 25000"/>
            </a:avLst>
          </a:prstGeom>
          <a:solidFill>
            <a:srgbClr val="E0AD56"/>
          </a:solidFill>
          <a:ln w="12700">
            <a:solidFill>
              <a:srgbClr val="E0AD5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96312" y="4946904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RELATIONSHIPS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8368" y="5376672"/>
            <a:ext cx="1572768" cy="292608"/>
          </a:xfrm>
          <a:prstGeom prst="roundRect">
            <a:avLst>
              <a:gd name="adj" fmla="val 25000"/>
            </a:avLst>
          </a:prstGeom>
          <a:solidFill>
            <a:srgbClr val="C75B3A"/>
          </a:solidFill>
          <a:ln w="12700">
            <a:solidFill>
              <a:srgbClr val="C75B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20" y="5422392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LEGITIMACY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2423160" y="5376672"/>
            <a:ext cx="1572768" cy="292608"/>
          </a:xfrm>
          <a:prstGeom prst="roundRect">
            <a:avLst>
              <a:gd name="adj" fmla="val 25000"/>
            </a:avLst>
          </a:prstGeom>
          <a:solidFill>
            <a:srgbClr val="8BA4B8"/>
          </a:solidFill>
          <a:ln w="12700">
            <a:solidFill>
              <a:srgbClr val="8BA4B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496312" y="5422392"/>
            <a:ext cx="1426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166360" y="5230368"/>
            <a:ext cx="6263640" cy="749808"/>
          </a:xfrm>
          <a:prstGeom prst="roundRect">
            <a:avLst>
              <a:gd name="adj" fmla="val 9756"/>
            </a:avLst>
          </a:prstGeom>
          <a:solidFill>
            <a:srgbClr val="F5F0E8">
              <a:alpha val="97000"/>
            </a:srgbClr>
          </a:solidFill>
          <a:ln w="10160">
            <a:solidFill>
              <a:srgbClr val="EBE4D8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440680" y="544982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C75B3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One-way exchange presented as “collaboration” deserves scrutiny.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502920" y="6510528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D7E1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good ship · framework</a:t>
            </a:r>
            <a:endParaRPr lang="en-US" sz="760" dirty="0"/>
          </a:p>
        </p:txBody>
      </p:sp>
      <p:sp>
        <p:nvSpPr>
          <p:cNvPr id="29" name="Text 26"/>
          <p:cNvSpPr/>
          <p:nvPr/>
        </p:nvSpPr>
        <p:spPr>
          <a:xfrm>
            <a:off x="11384280" y="6510528"/>
            <a:ext cx="228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D7E1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7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00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70" kern="0" dirty="0">
                <a:solidFill>
                  <a:srgbClr val="2D8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PRACTICE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Different modes need different infrastructure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664208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is not “how collaborative are we?” but “what do we need to make this mode work well?”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192938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148840" y="19293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NEEDS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01768" y="192938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QUESTION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339328" y="19293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OUT FOR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94360" y="2231136"/>
            <a:ext cx="10991088" cy="713232"/>
          </a:xfrm>
          <a:prstGeom prst="roundRect">
            <a:avLst>
              <a:gd name="adj" fmla="val 6410"/>
            </a:avLst>
          </a:prstGeom>
          <a:solidFill>
            <a:srgbClr val="FBF8F3"/>
          </a:solidFill>
          <a:ln w="7620">
            <a:solidFill>
              <a:srgbClr val="E2D9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2231136"/>
            <a:ext cx="73152" cy="713232"/>
          </a:xfrm>
          <a:prstGeom prst="rect">
            <a:avLst/>
          </a:prstGeom>
          <a:solidFill>
            <a:srgbClr val="2D8B7A"/>
          </a:solidFill>
          <a:ln w="12700">
            <a:solidFill>
              <a:srgbClr val="2D8B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40487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CONNECT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48840" y="237744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 social infrastructure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5001768" y="235915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stays connected? How?</a:t>
            </a:r>
            <a:endParaRPr lang="en-US" sz="1090" dirty="0"/>
          </a:p>
        </p:txBody>
      </p:sp>
      <p:sp>
        <p:nvSpPr>
          <p:cNvPr id="14" name="Text 12"/>
          <p:cNvSpPr/>
          <p:nvPr/>
        </p:nvSpPr>
        <p:spPr>
          <a:xfrm>
            <a:off x="8339328" y="2359152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Weak ties disappear when key people leave.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594360" y="3054096"/>
            <a:ext cx="10991088" cy="713232"/>
          </a:xfrm>
          <a:prstGeom prst="roundRect">
            <a:avLst>
              <a:gd name="adj" fmla="val 6410"/>
            </a:avLst>
          </a:prstGeom>
          <a:solidFill>
            <a:srgbClr val="F0E9DF"/>
          </a:solidFill>
          <a:ln w="7620">
            <a:solidFill>
              <a:srgbClr val="E2D9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054096"/>
            <a:ext cx="73152" cy="713232"/>
          </a:xfrm>
          <a:prstGeom prst="rect">
            <a:avLst/>
          </a:prstGeom>
          <a:solidFill>
            <a:srgbClr val="D4993D"/>
          </a:solidFill>
          <a:ln w="12700">
            <a:solidFill>
              <a:srgbClr val="D49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22783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COORDINATE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148840" y="32004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Information + role infrastructure</a:t>
            </a:r>
            <a:endParaRPr lang="en-US" sz="1130" dirty="0"/>
          </a:p>
        </p:txBody>
      </p:sp>
      <p:sp>
        <p:nvSpPr>
          <p:cNvPr id="19" name="Text 17"/>
          <p:cNvSpPr/>
          <p:nvPr/>
        </p:nvSpPr>
        <p:spPr>
          <a:xfrm>
            <a:off x="5001768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does what? What needs visibility?</a:t>
            </a:r>
            <a:endParaRPr lang="en-US" sz="1090" dirty="0"/>
          </a:p>
        </p:txBody>
      </p:sp>
      <p:sp>
        <p:nvSpPr>
          <p:cNvPr id="20" name="Text 18"/>
          <p:cNvSpPr/>
          <p:nvPr/>
        </p:nvSpPr>
        <p:spPr>
          <a:xfrm>
            <a:off x="8339328" y="3182112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work, duplication and broken hand-offs.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594360" y="3877056"/>
            <a:ext cx="10991088" cy="713232"/>
          </a:xfrm>
          <a:prstGeom prst="roundRect">
            <a:avLst>
              <a:gd name="adj" fmla="val 6410"/>
            </a:avLst>
          </a:prstGeom>
          <a:solidFill>
            <a:srgbClr val="FBF8F3"/>
          </a:solidFill>
          <a:ln w="7620">
            <a:solidFill>
              <a:srgbClr val="E2D9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3877056"/>
            <a:ext cx="73152" cy="713232"/>
          </a:xfrm>
          <a:prstGeom prst="rect">
            <a:avLst/>
          </a:prstGeom>
          <a:solidFill>
            <a:srgbClr val="8BA4B8"/>
          </a:solidFill>
          <a:ln w="12700">
            <a:solidFill>
              <a:srgbClr val="8BA4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05079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COOPERATE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148840" y="402336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Commitment + delivery infrastructure</a:t>
            </a:r>
            <a:endParaRPr lang="en-US" sz="1130" dirty="0"/>
          </a:p>
        </p:txBody>
      </p:sp>
      <p:sp>
        <p:nvSpPr>
          <p:cNvPr id="25" name="Text 23"/>
          <p:cNvSpPr/>
          <p:nvPr/>
        </p:nvSpPr>
        <p:spPr>
          <a:xfrm>
            <a:off x="5001768" y="400507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owns which piece? What is promised?</a:t>
            </a:r>
            <a:endParaRPr lang="en-US" sz="1090" dirty="0"/>
          </a:p>
        </p:txBody>
      </p:sp>
      <p:sp>
        <p:nvSpPr>
          <p:cNvPr id="26" name="Text 24"/>
          <p:cNvSpPr/>
          <p:nvPr/>
        </p:nvSpPr>
        <p:spPr>
          <a:xfrm>
            <a:off x="8339328" y="4005072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goal, but unequal load or vague accountability.</a:t>
            </a:r>
            <a:endParaRPr lang="en-US" sz="1070" dirty="0"/>
          </a:p>
        </p:txBody>
      </p:sp>
      <p:sp>
        <p:nvSpPr>
          <p:cNvPr id="27" name="Shape 25"/>
          <p:cNvSpPr/>
          <p:nvPr/>
        </p:nvSpPr>
        <p:spPr>
          <a:xfrm>
            <a:off x="594360" y="4700016"/>
            <a:ext cx="10991088" cy="713232"/>
          </a:xfrm>
          <a:prstGeom prst="roundRect">
            <a:avLst>
              <a:gd name="adj" fmla="val 6410"/>
            </a:avLst>
          </a:prstGeom>
          <a:solidFill>
            <a:srgbClr val="F0E9DF"/>
          </a:solidFill>
          <a:ln w="7620">
            <a:solidFill>
              <a:srgbClr val="E2D9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4700016"/>
            <a:ext cx="73152" cy="713232"/>
          </a:xfrm>
          <a:prstGeom prst="rect">
            <a:avLst/>
          </a:prstGeom>
          <a:solidFill>
            <a:srgbClr val="C75B3A"/>
          </a:solidFill>
          <a:ln w="12700">
            <a:solidFill>
              <a:srgbClr val="C75B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487375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COLLABORATE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148840" y="48463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Relational + decision infrastructure</a:t>
            </a:r>
            <a:endParaRPr lang="en-US" sz="1130" dirty="0"/>
          </a:p>
        </p:txBody>
      </p:sp>
      <p:sp>
        <p:nvSpPr>
          <p:cNvPr id="31" name="Text 29"/>
          <p:cNvSpPr/>
          <p:nvPr/>
        </p:nvSpPr>
        <p:spPr>
          <a:xfrm>
            <a:off x="5001768" y="482803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can decide? How do we disagree and repair?</a:t>
            </a:r>
            <a:endParaRPr lang="en-US" sz="1090" dirty="0"/>
          </a:p>
        </p:txBody>
      </p:sp>
      <p:sp>
        <p:nvSpPr>
          <p:cNvPr id="32" name="Text 30"/>
          <p:cNvSpPr/>
          <p:nvPr/>
        </p:nvSpPr>
        <p:spPr>
          <a:xfrm>
            <a:off x="8339328" y="4828032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party controls the important choices.</a:t>
            </a:r>
            <a:endParaRPr lang="en-US" sz="1070" dirty="0"/>
          </a:p>
        </p:txBody>
      </p:sp>
      <p:sp>
        <p:nvSpPr>
          <p:cNvPr id="33" name="Shape 31"/>
          <p:cNvSpPr/>
          <p:nvPr/>
        </p:nvSpPr>
        <p:spPr>
          <a:xfrm>
            <a:off x="594360" y="5522976"/>
            <a:ext cx="10991088" cy="713232"/>
          </a:xfrm>
          <a:prstGeom prst="roundRect">
            <a:avLst>
              <a:gd name="adj" fmla="val 6410"/>
            </a:avLst>
          </a:prstGeom>
          <a:solidFill>
            <a:srgbClr val="FBF8F3"/>
          </a:solidFill>
          <a:ln w="7620">
            <a:solidFill>
              <a:srgbClr val="E2D9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" y="5522976"/>
            <a:ext cx="73152" cy="71323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69671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COMMONS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148840" y="566928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b="1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+ contribution infrastructure</a:t>
            </a:r>
            <a:endParaRPr lang="en-US" sz="1130" dirty="0"/>
          </a:p>
        </p:txBody>
      </p:sp>
      <p:sp>
        <p:nvSpPr>
          <p:cNvPr id="37" name="Text 35"/>
          <p:cNvSpPr/>
          <p:nvPr/>
        </p:nvSpPr>
        <p:spPr>
          <a:xfrm>
            <a:off x="5001768" y="565099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can use, change, contribute, maintain or fork?</a:t>
            </a:r>
            <a:endParaRPr lang="en-US" sz="1090" dirty="0"/>
          </a:p>
        </p:txBody>
      </p:sp>
      <p:sp>
        <p:nvSpPr>
          <p:cNvPr id="38" name="Text 36"/>
          <p:cNvSpPr/>
          <p:nvPr/>
        </p:nvSpPr>
        <p:spPr>
          <a:xfrm>
            <a:off x="8339328" y="5650992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to use, but closed to meaningful influence.</a:t>
            </a:r>
            <a:endParaRPr lang="en-US" sz="1070" dirty="0"/>
          </a:p>
        </p:txBody>
      </p:sp>
      <p:sp>
        <p:nvSpPr>
          <p:cNvPr id="39" name="Text 37"/>
          <p:cNvSpPr/>
          <p:nvPr/>
        </p:nvSpPr>
        <p:spPr>
          <a:xfrm>
            <a:off x="804672" y="6272784"/>
            <a:ext cx="10561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C75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arrangement honestly. A commission, grant, procurement or consultation can be perfectly legitimate without pretending to be collaboration.</a:t>
            </a:r>
            <a:endParaRPr lang="en-US" sz="10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256032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B778D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00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70" kern="0" dirty="0">
                <a:solidFill>
                  <a:srgbClr val="2D8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USEFUL DISTINCTION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Collaboration and commons are different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66420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collaborate with people. You contribute to, draw from and steward a commons.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148840"/>
            <a:ext cx="5230368" cy="3840480"/>
          </a:xfrm>
          <a:prstGeom prst="roundRect">
            <a:avLst>
              <a:gd name="adj" fmla="val 1905"/>
            </a:avLst>
          </a:prstGeom>
          <a:solidFill>
            <a:srgbClr val="E9C7BB">
              <a:alpha val="96000"/>
            </a:srgbClr>
          </a:solidFill>
          <a:ln w="15240">
            <a:solidFill>
              <a:srgbClr val="C75B3A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91072" y="2148840"/>
            <a:ext cx="5230368" cy="3840480"/>
          </a:xfrm>
          <a:prstGeom prst="roundRect">
            <a:avLst>
              <a:gd name="adj" fmla="val 1905"/>
            </a:avLst>
          </a:prstGeom>
          <a:solidFill>
            <a:srgbClr val="DFE6EB">
              <a:alpha val="96000"/>
            </a:srgbClr>
          </a:solidFill>
          <a:ln w="15240">
            <a:solidFill>
              <a:srgbClr val="1B2A4A">
                <a:alpha val="8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4505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75B3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COLLABORATE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565392" y="24505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COMMONS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41832" y="303580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Centre of gravity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331720" y="299008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relationship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65392" y="3035808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Centre of gravity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55280" y="299008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shared thing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41832" y="3493008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75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Basic action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2148840" y="34747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+ decide together</a:t>
            </a:r>
            <a:endParaRPr lang="en-US" sz="1090" dirty="0"/>
          </a:p>
        </p:txBody>
      </p:sp>
      <p:sp>
        <p:nvSpPr>
          <p:cNvPr id="15" name="Text 13"/>
          <p:cNvSpPr/>
          <p:nvPr/>
        </p:nvSpPr>
        <p:spPr>
          <a:xfrm>
            <a:off x="941832" y="3986784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75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2148840" y="396849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one another</a:t>
            </a:r>
            <a:endParaRPr lang="en-US" sz="1090" dirty="0"/>
          </a:p>
        </p:txBody>
      </p:sp>
      <p:sp>
        <p:nvSpPr>
          <p:cNvPr id="17" name="Text 15"/>
          <p:cNvSpPr/>
          <p:nvPr/>
        </p:nvSpPr>
        <p:spPr>
          <a:xfrm>
            <a:off x="941832" y="44805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75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2148840" y="446227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Relationships · meetings · decisions · conflict/repair</a:t>
            </a:r>
            <a:endParaRPr lang="en-US" sz="1090" dirty="0"/>
          </a:p>
        </p:txBody>
      </p:sp>
      <p:sp>
        <p:nvSpPr>
          <p:cNvPr id="19" name="Text 17"/>
          <p:cNvSpPr/>
          <p:nvPr/>
        </p:nvSpPr>
        <p:spPr>
          <a:xfrm>
            <a:off x="941832" y="4974336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75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question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2148840" y="49560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Whose voice counts?</a:t>
            </a:r>
            <a:endParaRPr lang="en-US" sz="1090" dirty="0"/>
          </a:p>
        </p:txBody>
      </p:sp>
      <p:sp>
        <p:nvSpPr>
          <p:cNvPr id="21" name="Text 19"/>
          <p:cNvSpPr/>
          <p:nvPr/>
        </p:nvSpPr>
        <p:spPr>
          <a:xfrm>
            <a:off x="941832" y="546811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75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2148840" y="544982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Change, loosen or leave the relationship</a:t>
            </a:r>
            <a:endParaRPr lang="en-US" sz="1090" dirty="0"/>
          </a:p>
        </p:txBody>
      </p:sp>
      <p:sp>
        <p:nvSpPr>
          <p:cNvPr id="23" name="Text 21"/>
          <p:cNvSpPr/>
          <p:nvPr/>
        </p:nvSpPr>
        <p:spPr>
          <a:xfrm>
            <a:off x="6565392" y="3493008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Basic action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7772400" y="34747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Contribute · use · steward</a:t>
            </a:r>
            <a:endParaRPr lang="en-US" sz="1090" dirty="0"/>
          </a:p>
        </p:txBody>
      </p:sp>
      <p:sp>
        <p:nvSpPr>
          <p:cNvPr id="25" name="Text 23"/>
          <p:cNvSpPr/>
          <p:nvPr/>
        </p:nvSpPr>
        <p:spPr>
          <a:xfrm>
            <a:off x="6565392" y="3986784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7772400" y="396849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shared resource / infrastructure</a:t>
            </a:r>
            <a:endParaRPr lang="en-US" sz="1090" dirty="0"/>
          </a:p>
        </p:txBody>
      </p:sp>
      <p:sp>
        <p:nvSpPr>
          <p:cNvPr id="27" name="Text 25"/>
          <p:cNvSpPr/>
          <p:nvPr/>
        </p:nvSpPr>
        <p:spPr>
          <a:xfrm>
            <a:off x="6565392" y="4480560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7772400" y="446227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Licences · standards · repositories · documentation · contribution rules</a:t>
            </a:r>
            <a:endParaRPr lang="en-US" sz="1090" dirty="0"/>
          </a:p>
        </p:txBody>
      </p:sp>
      <p:sp>
        <p:nvSpPr>
          <p:cNvPr id="29" name="Text 27"/>
          <p:cNvSpPr/>
          <p:nvPr/>
        </p:nvSpPr>
        <p:spPr>
          <a:xfrm>
            <a:off x="6565392" y="4974336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question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7772400" y="49560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controls the commons?</a:t>
            </a:r>
            <a:endParaRPr lang="en-US" sz="1090" dirty="0"/>
          </a:p>
        </p:txBody>
      </p:sp>
      <p:sp>
        <p:nvSpPr>
          <p:cNvPr id="31" name="Text 29"/>
          <p:cNvSpPr/>
          <p:nvPr/>
        </p:nvSpPr>
        <p:spPr>
          <a:xfrm>
            <a:off x="6565392" y="546811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7772400" y="544982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90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 · hand over · archive · fork</a:t>
            </a:r>
            <a:endParaRPr lang="en-US" sz="1090" dirty="0"/>
          </a:p>
        </p:txBody>
      </p:sp>
      <p:sp>
        <p:nvSpPr>
          <p:cNvPr id="33" name="Shape 31"/>
          <p:cNvSpPr/>
          <p:nvPr/>
        </p:nvSpPr>
        <p:spPr>
          <a:xfrm>
            <a:off x="6089904" y="2395728"/>
            <a:ext cx="0" cy="3291840"/>
          </a:xfrm>
          <a:prstGeom prst="line">
            <a:avLst/>
          </a:prstGeom>
          <a:noFill/>
          <a:ln w="25400">
            <a:solidFill>
              <a:srgbClr val="D4993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82312" y="5248656"/>
            <a:ext cx="2587752" cy="292608"/>
          </a:xfrm>
          <a:prstGeom prst="roundRect">
            <a:avLst>
              <a:gd name="adj" fmla="val 25000"/>
            </a:avLst>
          </a:prstGeom>
          <a:solidFill>
            <a:srgbClr val="E0AD56"/>
          </a:solidFill>
          <a:ln w="12700">
            <a:solidFill>
              <a:srgbClr val="E0AD5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5464" y="5294376"/>
            <a:ext cx="2441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 INFRASTRUCTURE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256032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B778D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ide_stylized_illustrative_map_scene_concept_art_batch_4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>
              <a:alpha val="65000"/>
            </a:srgbClr>
          </a:solidFill>
          <a:ln w="12700">
            <a:solidFill>
              <a:srgbClr val="1B2A4A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solidFill>
            <a:srgbClr val="1B2A4A">
              <a:alpha val="93000"/>
            </a:srgbClr>
          </a:solidFill>
          <a:ln w="12700">
            <a:solidFill>
              <a:srgbClr val="1B2A4A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66928" y="6400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70" kern="0" dirty="0">
                <a:solidFill>
                  <a:srgbClr val="E0AD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&amp; EXIT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93268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5F0E8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Every island needs a way off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76072" y="1572768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9E1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how the relationship can change — before changing it becomes contentious.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" y="2487168"/>
            <a:ext cx="1389888" cy="292608"/>
          </a:xfrm>
          <a:prstGeom prst="roundRect">
            <a:avLst>
              <a:gd name="adj" fmla="val 25000"/>
            </a:avLst>
          </a:prstGeom>
          <a:solidFill>
            <a:srgbClr val="2D8B7A"/>
          </a:solidFill>
          <a:ln w="12700">
            <a:solidFill>
              <a:srgbClr val="2D8B7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4944" y="2532888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203704" y="2487168"/>
            <a:ext cx="1389888" cy="292608"/>
          </a:xfrm>
          <a:prstGeom prst="roundRect">
            <a:avLst>
              <a:gd name="adj" fmla="val 25000"/>
            </a:avLst>
          </a:prstGeom>
          <a:solidFill>
            <a:srgbClr val="D4993D"/>
          </a:solidFill>
          <a:ln w="12700">
            <a:solidFill>
              <a:srgbClr val="D49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276856" y="2532888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PAUSE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21792" y="2944368"/>
            <a:ext cx="1389888" cy="292608"/>
          </a:xfrm>
          <a:prstGeom prst="roundRect">
            <a:avLst>
              <a:gd name="adj" fmla="val 25000"/>
            </a:avLst>
          </a:prstGeom>
          <a:solidFill>
            <a:srgbClr val="C75B3A"/>
          </a:solidFill>
          <a:ln w="12700">
            <a:solidFill>
              <a:srgbClr val="C75B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" y="2990088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203704" y="2944368"/>
            <a:ext cx="1389888" cy="292608"/>
          </a:xfrm>
          <a:prstGeom prst="roundRect">
            <a:avLst>
              <a:gd name="adj" fmla="val 25000"/>
            </a:avLst>
          </a:prstGeom>
          <a:solidFill>
            <a:srgbClr val="8BA4B8"/>
          </a:solidFill>
          <a:ln w="12700">
            <a:solidFill>
              <a:srgbClr val="8BA4B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276856" y="2990088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LOOSEN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21792" y="3401568"/>
            <a:ext cx="1389888" cy="292608"/>
          </a:xfrm>
          <a:prstGeom prst="roundRect">
            <a:avLst>
              <a:gd name="adj" fmla="val 25000"/>
            </a:avLst>
          </a:prstGeom>
          <a:solidFill>
            <a:srgbClr val="3AA08D"/>
          </a:solidFill>
          <a:ln w="12700">
            <a:solidFill>
              <a:srgbClr val="3AA08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4944" y="3447288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DEEPEN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2203704" y="3401568"/>
            <a:ext cx="1389888" cy="292608"/>
          </a:xfrm>
          <a:prstGeom prst="roundRect">
            <a:avLst>
              <a:gd name="adj" fmla="val 25000"/>
            </a:avLst>
          </a:prstGeom>
          <a:solidFill>
            <a:srgbClr val="E0AD56"/>
          </a:solidFill>
          <a:ln w="12700">
            <a:solidFill>
              <a:srgbClr val="E0AD5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276856" y="3447288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OVER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621792" y="3858768"/>
            <a:ext cx="1389888" cy="292608"/>
          </a:xfrm>
          <a:prstGeom prst="roundRect">
            <a:avLst>
              <a:gd name="adj" fmla="val 25000"/>
            </a:avLst>
          </a:prstGeom>
          <a:solidFill>
            <a:srgbClr val="C75B3A"/>
          </a:solidFill>
          <a:ln w="12700">
            <a:solidFill>
              <a:srgbClr val="C75B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4944" y="3904488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FORK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2203704" y="3858768"/>
            <a:ext cx="1389888" cy="292608"/>
          </a:xfrm>
          <a:prstGeom prst="roundRect">
            <a:avLst>
              <a:gd name="adj" fmla="val 25000"/>
            </a:avLst>
          </a:prstGeom>
          <a:solidFill>
            <a:srgbClr val="8BA4B8"/>
          </a:solidFill>
          <a:ln w="12700">
            <a:solidFill>
              <a:srgbClr val="8BA4B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276856" y="3904488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640080" y="4498848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0E8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How will we know when?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40080" y="4800600"/>
            <a:ext cx="3063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DDE5E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Purpose achieved · conditions changed · costs outweigh value · participation no longer meaningful · another mode now fits better.</a:t>
            </a:r>
            <a:endParaRPr lang="en-US" sz="1040" dirty="0"/>
          </a:p>
        </p:txBody>
      </p:sp>
      <p:sp>
        <p:nvSpPr>
          <p:cNvPr id="26" name="Text 23"/>
          <p:cNvSpPr/>
          <p:nvPr/>
        </p:nvSpPr>
        <p:spPr>
          <a:xfrm>
            <a:off x="640080" y="561441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D56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Why?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143000" y="561441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F5F0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· changed · unsustainable · misaligned · unhealthy · evolving</a:t>
            </a:r>
            <a:endParaRPr lang="en-US" sz="970" dirty="0"/>
          </a:p>
        </p:txBody>
      </p:sp>
      <p:sp>
        <p:nvSpPr>
          <p:cNvPr id="28" name="Shape 25"/>
          <p:cNvSpPr/>
          <p:nvPr/>
        </p:nvSpPr>
        <p:spPr>
          <a:xfrm>
            <a:off x="6419088" y="4901184"/>
            <a:ext cx="5065776" cy="1188720"/>
          </a:xfrm>
          <a:prstGeom prst="roundRect">
            <a:avLst>
              <a:gd name="adj" fmla="val 6154"/>
            </a:avLst>
          </a:prstGeom>
          <a:solidFill>
            <a:srgbClr val="F5F0E8">
              <a:alpha val="98000"/>
            </a:srgbClr>
          </a:solidFill>
          <a:ln w="10160">
            <a:solidFill>
              <a:srgbClr val="EBE4D8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675120" y="51297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How do we actually do it?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6675120" y="5522976"/>
            <a:ext cx="4526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b="1" dirty="0">
                <a:solidFill>
                  <a:srgbClr val="2130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· notice · commitments · data/IP/access · stewardship · communication</a:t>
            </a:r>
            <a:endParaRPr lang="en-US" sz="1060" dirty="0"/>
          </a:p>
        </p:txBody>
      </p:sp>
      <p:sp>
        <p:nvSpPr>
          <p:cNvPr id="31" name="Text 28"/>
          <p:cNvSpPr/>
          <p:nvPr/>
        </p:nvSpPr>
        <p:spPr>
          <a:xfrm>
            <a:off x="8705088" y="5815584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40" b="1" dirty="0">
                <a:solidFill>
                  <a:srgbClr val="C75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 commons: can it be forked?</a:t>
            </a:r>
            <a:endParaRPr lang="en-US" sz="940" dirty="0"/>
          </a:p>
        </p:txBody>
      </p:sp>
      <p:sp>
        <p:nvSpPr>
          <p:cNvPr id="32" name="Text 29"/>
          <p:cNvSpPr/>
          <p:nvPr/>
        </p:nvSpPr>
        <p:spPr>
          <a:xfrm>
            <a:off x="502920" y="6510528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D7E1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good ship · framework</a:t>
            </a:r>
            <a:endParaRPr lang="en-US" sz="760" dirty="0"/>
          </a:p>
        </p:txBody>
      </p:sp>
      <p:sp>
        <p:nvSpPr>
          <p:cNvPr id="33" name="Text 30"/>
          <p:cNvSpPr/>
          <p:nvPr/>
        </p:nvSpPr>
        <p:spPr>
          <a:xfrm>
            <a:off x="11384280" y="6510528"/>
            <a:ext cx="228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D7E1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7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00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70" kern="0" dirty="0">
                <a:solidFill>
                  <a:srgbClr val="2D8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CANVAS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Before you set sail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664208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these six questions to design the arrangement — then choose the mode, openness and distribution of control that fit.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" y="2103120"/>
            <a:ext cx="5239512" cy="1078992"/>
          </a:xfrm>
          <a:prstGeom prst="roundRect">
            <a:avLst>
              <a:gd name="adj" fmla="val 6780"/>
            </a:avLst>
          </a:prstGeom>
          <a:solidFill>
            <a:srgbClr val="FBF8F3">
              <a:alpha val="96000"/>
            </a:srgbClr>
          </a:solidFill>
          <a:ln w="12700">
            <a:solidFill>
              <a:srgbClr val="2D8B7A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2276856"/>
            <a:ext cx="402336" cy="402336"/>
          </a:xfrm>
          <a:prstGeom prst="ellipse">
            <a:avLst/>
          </a:prstGeom>
          <a:solidFill>
            <a:srgbClr val="2D8B7A"/>
          </a:solidFill>
          <a:ln w="12700">
            <a:solidFill>
              <a:srgbClr val="2D8B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359152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35024" y="2240280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spc="50" kern="0" dirty="0">
                <a:solidFill>
                  <a:srgbClr val="2D8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PURPOSE</a:t>
            </a:r>
            <a:endParaRPr lang="en-US" sz="960" dirty="0"/>
          </a:p>
        </p:txBody>
      </p:sp>
      <p:sp>
        <p:nvSpPr>
          <p:cNvPr id="9" name="Text 7"/>
          <p:cNvSpPr/>
          <p:nvPr/>
        </p:nvSpPr>
        <p:spPr>
          <a:xfrm>
            <a:off x="1335024" y="251460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What are we actually trying to achieve together?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335024" y="2862072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would be different if this worked?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217920" y="2103120"/>
            <a:ext cx="5239512" cy="1078992"/>
          </a:xfrm>
          <a:prstGeom prst="roundRect">
            <a:avLst>
              <a:gd name="adj" fmla="val 6780"/>
            </a:avLst>
          </a:prstGeom>
          <a:solidFill>
            <a:srgbClr val="F0E9DF">
              <a:alpha val="96000"/>
            </a:srgbClr>
          </a:solidFill>
          <a:ln w="12700">
            <a:solidFill>
              <a:srgbClr val="C75B3A">
                <a:alpha val="5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4224" y="2276856"/>
            <a:ext cx="402336" cy="402336"/>
          </a:xfrm>
          <a:prstGeom prst="ellipse">
            <a:avLst/>
          </a:prstGeom>
          <a:solidFill>
            <a:srgbClr val="C75B3A"/>
          </a:solidFill>
          <a:ln w="12700">
            <a:solidFill>
              <a:srgbClr val="C75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64224" y="2359152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931152" y="2240280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spc="50" kern="0" dirty="0">
                <a:solidFill>
                  <a:srgbClr val="C75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6931152" y="251460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Who has money, authority, information and the ability to walk away?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931152" y="2862072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power differences need naming or balancing?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621792" y="3401568"/>
            <a:ext cx="5239512" cy="1078992"/>
          </a:xfrm>
          <a:prstGeom prst="roundRect">
            <a:avLst>
              <a:gd name="adj" fmla="val 6780"/>
            </a:avLst>
          </a:prstGeom>
          <a:solidFill>
            <a:srgbClr val="FBF8F3">
              <a:alpha val="96000"/>
            </a:srgbClr>
          </a:solidFill>
          <a:ln w="12700">
            <a:solidFill>
              <a:srgbClr val="2D8B7A">
                <a:alpha val="5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3575304"/>
            <a:ext cx="402336" cy="402336"/>
          </a:xfrm>
          <a:prstGeom prst="ellipse">
            <a:avLst/>
          </a:prstGeom>
          <a:solidFill>
            <a:srgbClr val="2D8B7A"/>
          </a:solidFill>
          <a:ln w="12700">
            <a:solidFill>
              <a:srgbClr val="2D8B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657600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35024" y="3538728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spc="50" kern="0" dirty="0">
                <a:solidFill>
                  <a:srgbClr val="2D8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1335024" y="3813048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What gets decided together — and what does not?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335024" y="416052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can commit the organisations involved?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6217920" y="3401568"/>
            <a:ext cx="5239512" cy="1078992"/>
          </a:xfrm>
          <a:prstGeom prst="roundRect">
            <a:avLst>
              <a:gd name="adj" fmla="val 6780"/>
            </a:avLst>
          </a:prstGeom>
          <a:solidFill>
            <a:srgbClr val="F0E9DF">
              <a:alpha val="96000"/>
            </a:srgbClr>
          </a:solidFill>
          <a:ln w="12700">
            <a:solidFill>
              <a:srgbClr val="C75B3A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64224" y="3575304"/>
            <a:ext cx="402336" cy="402336"/>
          </a:xfrm>
          <a:prstGeom prst="ellipse">
            <a:avLst/>
          </a:prstGeom>
          <a:solidFill>
            <a:srgbClr val="C75B3A"/>
          </a:solidFill>
          <a:ln w="12700">
            <a:solidFill>
              <a:srgbClr val="C75B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64224" y="3657600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31152" y="3538728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spc="50" kern="0" dirty="0">
                <a:solidFill>
                  <a:srgbClr val="C75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CONTRIBUTION &amp; RECIPROCITY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6931152" y="3813048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What does each participant put in, and what can they draw from?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931152" y="4160520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would feel unfair or extractive?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621792" y="4700016"/>
            <a:ext cx="5239512" cy="1078992"/>
          </a:xfrm>
          <a:prstGeom prst="roundRect">
            <a:avLst>
              <a:gd name="adj" fmla="val 6780"/>
            </a:avLst>
          </a:prstGeom>
          <a:solidFill>
            <a:srgbClr val="FBF8F3">
              <a:alpha val="96000"/>
            </a:srgbClr>
          </a:solidFill>
          <a:ln w="12700">
            <a:solidFill>
              <a:srgbClr val="2D8B7A">
                <a:alpha val="5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8096" y="4873752"/>
            <a:ext cx="402336" cy="402336"/>
          </a:xfrm>
          <a:prstGeom prst="ellipse">
            <a:avLst/>
          </a:prstGeom>
          <a:solidFill>
            <a:srgbClr val="2D8B7A"/>
          </a:solidFill>
          <a:ln w="12700">
            <a:solidFill>
              <a:srgbClr val="2D8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8096" y="4956048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335024" y="4837176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spc="50" kern="0" dirty="0">
                <a:solidFill>
                  <a:srgbClr val="2D8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OPENNESS &amp; OWNERSHIP</a:t>
            </a:r>
            <a:endParaRPr lang="en-US" sz="960" dirty="0"/>
          </a:p>
        </p:txBody>
      </p:sp>
      <p:sp>
        <p:nvSpPr>
          <p:cNvPr id="33" name="Text 31"/>
          <p:cNvSpPr/>
          <p:nvPr/>
        </p:nvSpPr>
        <p:spPr>
          <a:xfrm>
            <a:off x="1335024" y="5111496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Who can see, use, change and share the work or outputs?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335024" y="5458968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should remain private — and why?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6217920" y="4700016"/>
            <a:ext cx="5239512" cy="1078992"/>
          </a:xfrm>
          <a:prstGeom prst="roundRect">
            <a:avLst>
              <a:gd name="adj" fmla="val 6780"/>
            </a:avLst>
          </a:prstGeom>
          <a:solidFill>
            <a:srgbClr val="F0E9DF">
              <a:alpha val="96000"/>
            </a:srgbClr>
          </a:solidFill>
          <a:ln w="12700">
            <a:solidFill>
              <a:srgbClr val="C75B3A">
                <a:alpha val="5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4224" y="4873752"/>
            <a:ext cx="402336" cy="402336"/>
          </a:xfrm>
          <a:prstGeom prst="ellipse">
            <a:avLst/>
          </a:prstGeom>
          <a:solidFill>
            <a:srgbClr val="C75B3A"/>
          </a:solidFill>
          <a:ln w="12700">
            <a:solidFill>
              <a:srgbClr val="C75B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64224" y="4956048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EFC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31152" y="4837176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spc="50" kern="0" dirty="0">
                <a:solidFill>
                  <a:srgbClr val="C75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&amp; EXIT</a:t>
            </a:r>
            <a:endParaRPr lang="en-US" sz="960" dirty="0"/>
          </a:p>
        </p:txBody>
      </p:sp>
      <p:sp>
        <p:nvSpPr>
          <p:cNvPr id="39" name="Text 37"/>
          <p:cNvSpPr/>
          <p:nvPr/>
        </p:nvSpPr>
        <p:spPr>
          <a:xfrm>
            <a:off x="6931152" y="5111496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Noto Serif Display" pitchFamily="34" charset="0"/>
                <a:ea typeface="Noto Serif Display" pitchFamily="34" charset="-122"/>
                <a:cs typeface="Noto Serif Display" pitchFamily="34" charset="-120"/>
              </a:rPr>
              <a:t>How will we know when this arrangement should change?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931152" y="5458968"/>
            <a:ext cx="4251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decides, and what happens to the work, money, data and relationships?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621792" y="612648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6875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choose:</a:t>
            </a:r>
            <a:endParaRPr lang="en-US" sz="930" dirty="0"/>
          </a:p>
        </p:txBody>
      </p:sp>
      <p:sp>
        <p:nvSpPr>
          <p:cNvPr id="42" name="Text 40"/>
          <p:cNvSpPr/>
          <p:nvPr/>
        </p:nvSpPr>
        <p:spPr>
          <a:xfrm>
            <a:off x="1572768" y="6099048"/>
            <a:ext cx="9738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spc="25" kern="0" dirty="0">
                <a:solidFill>
                  <a:srgbClr val="1B2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  ·  OPENNESS  ·  WHERE CONTROL SITS  ·  WHAT FLOWS  ·  HOW IT CHANGES</a:t>
            </a:r>
            <a:endParaRPr lang="en-US" sz="11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256032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6B778D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The Good Ship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Designing how we work together</dc:title>
  <dc:subject>Designing how we work together</dc:subject>
  <dc:creator>The Good Ship</dc:creator>
  <cp:lastModifiedBy>The Good Ship</cp:lastModifiedBy>
  <cp:revision>1</cp:revision>
  <dcterms:created xsi:type="dcterms:W3CDTF">2026-08-19T13:52:58Z</dcterms:created>
  <dcterms:modified xsi:type="dcterms:W3CDTF">2026-08-19T13:52:58Z</dcterms:modified>
</cp:coreProperties>
</file>